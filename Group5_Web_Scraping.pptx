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c15c9b-9fe9-9984-a1d4-323a5fdd6ac1}">
          <p14:sldIdLst>
            <p14:sldId id="256"/>
            <p14:sldId id="257"/>
            <p14:sldId id="258"/>
          </p14:sldIdLst>
        </p14:section>
        <p14:section name="Methods" id="{b1ddfbbb-e15c-d9cb-794e-1257454a0c40}">
          <p14:sldIdLst>
            <p14:sldId id="259"/>
            <p14:sldId id="260"/>
            <p14:sldId id="261"/>
          </p14:sldIdLst>
        </p14:section>
        <p14:section name="Implementation" id="{63377ccb-bf07-6499-6ad2-ffecce4c3366}">
          <p14:sldIdLst>
            <p14:sldId id="262"/>
            <p14:sldId id="263"/>
          </p14:sldIdLst>
        </p14:section>
        <p14:section name="Ethics &amp; results" id="{c5de2816-9aab-6c20-4b94-169d04c0cde5}">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Listings per daily run (target: at least 500)</a:t>
            </a:r>
          </a:p>
        </c:rich>
      </c:tx>
      <c:layout/>
      <c:overlay val="0"/>
    </c:title>
    <c:autoTitleDeleted val="0"/>
    <c:plotArea>
      <c:layout/>
      <c:barChart>
        <c:barDir val="col"/>
        <c:grouping val="clustered"/>
        <c:varyColors val="0"/>
        <c:ser>
          <c:idx val="0"/>
          <c:order val="0"/>
          <c:tx>
            <c:strRef>
              <c:f>Sheet1!$B$1</c:f>
              <c:strCache>
                <c:ptCount val="1"/>
                <c:pt idx="0">
                  <c:v>Listings</c:v>
                </c:pt>
              </c:strCache>
            </c:strRef>
          </c:tx>
          <c:spPr>
            <a:solidFill>
              <a:srgbClr val="0E7C86"/>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14 Oct</c:v>
                  </c:pt>
                  <c:pt idx="1">
                    <c:v>15 Oct</c:v>
                  </c:pt>
                  <c:pt idx="2">
                    <c:v>16 Oct</c:v>
                  </c:pt>
                  <c:pt idx="3">
                    <c:v>17 Oct</c:v>
                  </c:pt>
                  <c:pt idx="4">
                    <c:v>18 Oct</c:v>
                  </c:pt>
                  <c:pt idx="5">
                    <c:v>19 Oct</c:v>
                  </c:pt>
                </c:lvl>
              </c:multiLvlStrCache>
            </c:multiLvlStrRef>
          </c:cat>
          <c:val>
            <c:numRef>
              <c:f>Sheet1!$B$2:$B$7</c:f>
              <c:numCache>
                <c:formatCode>General</c:formatCode>
                <c:ptCount val="6"/>
                <c:pt idx="0">
                  <c:v>600</c:v>
                </c:pt>
                <c:pt idx="1">
                  <c:v>600</c:v>
                </c:pt>
                <c:pt idx="2">
                  <c:v>600</c:v>
                </c:pt>
                <c:pt idx="3">
                  <c:v>600</c:v>
                </c:pt>
                <c:pt idx="4">
                  <c:v>535</c:v>
                </c:pt>
                <c:pt idx="5">
                  <c:v>547</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D5E2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We are Group 5. Over the past week we built a responsible web scraper, pointed it at Jiji Uganda, and collected about 3,500 product listings across daily runs. Today we'll walk you through how scraping works, how we built ours, how we handled the ethics,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scraping means using a program to do what you'd do by hand: open a page, read the information, and copy it down, except the program does it thousands of times, consistently. Pages are designed for human eyes, so the data is mixed with layout code. Scraping converts that into rows and columns we can analyse. It's used for price comparison, market research and building datasets for data science. Many sites don't offer an API, so scraping is often the only practical route. That power comes with responsibilities, which we'll return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assignment was to scrape Jiji Uganda, so we chose three categories: mobile phones, tablets and smart watches. For each listing we capture the title, price, condition, location, URL and the exact time we scraped it. We deliberately exclude seller names and phone numbers. The brief required at least 500 listings per run over seven days, with every raw file preserved as evidence. Our objective wasn't only to get data, but to get it in a way that is respectful, reproducible and honestly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deliberately simple. requests fetches pages, and we configure a session with a clear User-Agent, timeouts and retries. BeautifulSoup turns the raw HTML into a tree we can search. Regular expressions handle messy text, like pulling 450,000 out of USh 450,000. After collection, pandas does the cleaning, SQLite stores the data, and Jupyter with matplotlib and seaborn does the analysis. All five of us worked through GitHub, and the commit history shows each daily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technical decision is whether a page is static or dynamic. On a static page the data is in the HTML the server sends. On a dynamic page JavaScript loads it afterwards, so you'd need a headless browser like Selenium or Playwright. Before writing code, we inspected the page source and DevTools. For Jiji's category pages, the listing cards are in the HTML itself, so requests plus BeautifulSoup was sufficient. This is the faster, cheaper approach, and it means fewer requests hitting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as modular code. config.py holds every setting in one place. fetch.py is the polite HTTP layer: every single request goes through it. parse.py extracts the data, and run.py orchestrates a daily run. Each run starts by downloading and saving robots.txt. Then, for each category, it requests page one, parses the listings, and moves on page by page until it has 200 listings or runs out of pages. The result is written to a raw JSON file that we never overwrite, along with metadata: how many requests, how many errors, and whether we were blocked. Everything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is where scraping gets tricky. Instead of relying on CSS class names, which sites change often, we find each listing by its URL pattern, because every Jiji ad ends in a unique ID. From that link we climb up to the card and read the text inside: price, condition label, location and title. Discount badges are caught with a separate pattern. If a field is missing, we store nothing rather than guess. One real surprise: the HTML lists cards column by column, so DOM order didn't match on-screen rank, and we used the site's index position to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raw and cleaned data apart. The raw JSON files are our evidence and are never modified. Cleaning happens afterwards in pandas: we convert price strings to numbers, standardise labels (we even found 'Brand New' and 'Brand new' as separate values), and drop duplicates using the listing ID. Suspicious values, like very low prices, are flagged rather than silently deleted, because an extreme price isn't automatically an error. The cleaned data is loaded into SQLite with at least two tables, so we can compare listings across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we're proudest of. Ethics is built into the code, not just stated in a report. Before anything else, the scraper fetches robots.txt and keeps a dated copy. Jiji's rules disallow only admin, test and login paths, and our category pages are allowed. We wait two to five seconds between requests, and our typical run used only 27 or 28 requests, far below the roughly 1,000 limit. We identify ourselves honestly in the User-Agent. We never collect personal data like seller names or phone numbers. And if the site ever blocks us, the scraper stops. Being blocked isn't failure, but trying to evade a block would be unethical and a breach of the site's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pipeline produced. Across the daily runs we collected 3,482 listings, and every run cleared the 500 minimum. We had zero blocks and zero network errors, with just 27 or 28 requests per run. The first four runs hit our full target of 600. On the last two, mobile phones and tablets returned fewer listings. For example, page 7 of phones had only 3 cards and page 8 returned a 404, because the site had run out of ads to show. We logged that honestly rather than padding the data. In the latest run almost nine in ten listings are brand new. [Optionally show your strongest notebook chart here, such as a price histogram or box plot by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hit real-world problems. The page structure wasn't documented, so we had to inspect and adapt. Labels were inconsistent. Listing counts varied by day. And our dataset has limits: advertised prices aren't final sale prices, Jiji doesn't expose ratings or review counts, and a single week can't show long-term trends. Our biggest lessons were to do reconnaissance before coding, always preserve raw data, and log everything so the results can be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web scraping is a powerful way to turn the public web into data, but only when done responsibly. We built a scraper that's modular, polite and reproducible, collected about 3,500 listings without being blocked, and stored them in a clean, auditable pipeline. Going forward, we'd automate the daily schedule with alerts, re-check the same listings over time to catch price changes and removals, use browser automation for dynamic sites, and compare Uganda with Kenya's Jiji. Thank you, and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large"/>
          <p:cNvSpPr/>
          <p:nvPr/>
        </p:nvSpPr>
        <p:spPr>
          <a:xfrm>
            <a:off x="6583680" y="-914400"/>
            <a:ext cx="3840480" cy="3840480"/>
          </a:xfrm>
          <a:prstGeom prst="ellipse">
            <a:avLst/>
          </a:prstGeom>
          <a:solidFill>
            <a:schemeClr val="accent1">
              <a:alpha val="30000"/>
            </a:schemeClr>
          </a:solidFill>
          <a:ln w="12700">
            <a:solidFill>
              <a:schemeClr val="accent1"/>
            </a:solidFill>
            <a:prstDash val="solid"/>
          </a:ln>
        </p:spPr>
      </p:sp>
      <p:sp>
        <p:nvSpPr>
          <p:cNvPr id="3" name="Motif circle small"/>
          <p:cNvSpPr/>
          <p:nvPr/>
        </p:nvSpPr>
        <p:spPr>
          <a:xfrm>
            <a:off x="7589520" y="2377440"/>
            <a:ext cx="2011680" cy="2011680"/>
          </a:xfrm>
          <a:prstGeom prst="ellipse">
            <a:avLst/>
          </a:prstGeom>
          <a:solidFill>
            <a:schemeClr val="accent2">
              <a:alpha val="25000"/>
            </a:schemeClr>
          </a:solidFill>
          <a:ln w="12700">
            <a:solidFill>
              <a:schemeClr val="accent2"/>
            </a:solidFill>
            <a:prstDash val="solid"/>
          </a:ln>
        </p:spPr>
      </p:sp>
      <p:sp>
        <p:nvSpPr>
          <p:cNvPr id="4" name="Text 2"/>
          <p:cNvSpPr txBox="1"/>
          <p:nvPr/>
        </p:nvSpPr>
        <p:spPr>
          <a:xfrm>
            <a:off x="548640" y="731520"/>
            <a:ext cx="6400800" cy="27432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DSC2107 · DATA MINING &amp; WRANGLING · GROUP 5</a:t>
            </a:r>
            <a:endParaRPr lang="en-US" sz="1200" dirty="0"/>
          </a:p>
        </p:txBody>
      </p:sp>
      <p:sp>
        <p:nvSpPr>
          <p:cNvPr id="5" name="Text 3"/>
          <p:cNvSpPr txBox="1"/>
          <p:nvPr/>
        </p:nvSpPr>
        <p:spPr>
          <a:xfrm>
            <a:off x="548640" y="1188720"/>
            <a:ext cx="6583680" cy="155448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Web Scraping: Techniques, Applications, and a Case Study</a:t>
            </a:r>
            <a:endParaRPr lang="en-US" sz="3800" dirty="0"/>
          </a:p>
        </p:txBody>
      </p:sp>
      <p:sp>
        <p:nvSpPr>
          <p:cNvPr id="6" name="Text 4"/>
          <p:cNvSpPr txBox="1"/>
          <p:nvPr/>
        </p:nvSpPr>
        <p:spPr>
          <a:xfrm>
            <a:off x="548640" y="2880360"/>
            <a:ext cx="6400800" cy="365760"/>
          </a:xfrm>
          <a:prstGeom prst="rect">
            <a:avLst/>
          </a:prstGeom>
          <a:noFill/>
          <a:ln/>
        </p:spPr>
        <p:txBody>
          <a:bodyPr wrap="square" lIns="0" tIns="0" rIns="0" bIns="0" rtlCol="0" anchor="t"/>
          <a:lstStyle/>
          <a:p>
            <a:pPr indent="0" marL="0">
              <a:buNone/>
            </a:pPr>
            <a:r>
              <a:rPr lang="en-US" sz="1800" i="1" dirty="0">
                <a:solidFill>
                  <a:srgbClr val="CADCDC"/>
                </a:solidFill>
                <a:latin typeface="Calibri" pitchFamily="34" charset="0"/>
                <a:ea typeface="Calibri" pitchFamily="34" charset="-122"/>
                <a:cs typeface="Calibri" pitchFamily="34" charset="-120"/>
              </a:rPr>
              <a:t>Collecting Jiji Uganda product listings responsibly</a:t>
            </a:r>
            <a:endParaRPr lang="en-US" sz="1800" dirty="0"/>
          </a:p>
        </p:txBody>
      </p:sp>
      <p:sp>
        <p:nvSpPr>
          <p:cNvPr id="7" name="Text 5"/>
          <p:cNvSpPr txBox="1"/>
          <p:nvPr/>
        </p:nvSpPr>
        <p:spPr>
          <a:xfrm>
            <a:off x="548640" y="3749040"/>
            <a:ext cx="6858000" cy="5486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Wandwasi Kevin Joel · Ndambire Harry Bosco · Agaba Jonathan</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Musiime Miracle · Nakitto Favour</a:t>
            </a:r>
            <a:endParaRPr lang="en-US" sz="1400" dirty="0"/>
          </a:p>
        </p:txBody>
      </p:sp>
      <p:sp>
        <p:nvSpPr>
          <p:cNvPr id="8" name="Text 6"/>
          <p:cNvSpPr txBox="1"/>
          <p:nvPr/>
        </p:nvSpPr>
        <p:spPr>
          <a:xfrm>
            <a:off x="548640" y="4434840"/>
            <a:ext cx="6400800" cy="274320"/>
          </a:xfrm>
          <a:prstGeom prst="rect">
            <a:avLst/>
          </a:prstGeom>
          <a:noFill/>
          <a:ln/>
        </p:spPr>
        <p:txBody>
          <a:bodyPr wrap="square" lIns="0" tIns="0" rIns="0" bIns="0" rtlCol="0" anchor="t"/>
          <a:lstStyle/>
          <a:p>
            <a:pPr indent="0" marL="0">
              <a:buNone/>
            </a:pPr>
            <a:r>
              <a:rPr lang="en-US" sz="1200" dirty="0">
                <a:solidFill>
                  <a:srgbClr val="8AA7A9"/>
                </a:solidFill>
                <a:latin typeface="Calibri" pitchFamily="34" charset="0"/>
                <a:ea typeface="Calibri" pitchFamily="34" charset="-122"/>
                <a:cs typeface="Calibri" pitchFamily="34" charset="-120"/>
              </a:rPr>
              <a:t>Uganda Christian University · October 2026</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is web scraping?</a:t>
            </a:r>
            <a:endParaRPr lang="en-US" sz="3200" dirty="0"/>
          </a:p>
        </p:txBody>
      </p:sp>
      <p:sp>
        <p:nvSpPr>
          <p:cNvPr id="3" name="Bullet circle 1"/>
          <p:cNvSpPr/>
          <p:nvPr/>
        </p:nvSpPr>
        <p:spPr>
          <a:xfrm>
            <a:off x="457200" y="12344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97280" y="1188720"/>
            <a:ext cx="3383280" cy="274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Automated extraction</a:t>
            </a:r>
            <a:endParaRPr lang="en-US" sz="1600" dirty="0"/>
          </a:p>
        </p:txBody>
      </p:sp>
      <p:sp>
        <p:nvSpPr>
          <p:cNvPr id="6" name="Text 4"/>
          <p:cNvSpPr txBox="1"/>
          <p:nvPr/>
        </p:nvSpPr>
        <p:spPr>
          <a:xfrm>
            <a:off x="1097280" y="1481328"/>
            <a:ext cx="338328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publicly displayed data from web pages</a:t>
            </a:r>
            <a:endParaRPr lang="en-US" sz="1400" dirty="0"/>
          </a:p>
        </p:txBody>
      </p:sp>
      <p:sp>
        <p:nvSpPr>
          <p:cNvPr id="7" name="Bullet circle 2"/>
          <p:cNvSpPr/>
          <p:nvPr/>
        </p:nvSpPr>
        <p:spPr>
          <a:xfrm>
            <a:off x="457200" y="210312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097280" y="2057400"/>
            <a:ext cx="3383280" cy="274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Unstructured → structured</a:t>
            </a:r>
            <a:endParaRPr lang="en-US" sz="1600" dirty="0"/>
          </a:p>
        </p:txBody>
      </p:sp>
      <p:sp>
        <p:nvSpPr>
          <p:cNvPr id="10" name="Text 8"/>
          <p:cNvSpPr txBox="1"/>
          <p:nvPr/>
        </p:nvSpPr>
        <p:spPr>
          <a:xfrm>
            <a:off x="1097280" y="2350008"/>
            <a:ext cx="338328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HTML becomes rows and columns we can analyse</a:t>
            </a:r>
            <a:endParaRPr lang="en-US" sz="1400" dirty="0"/>
          </a:p>
        </p:txBody>
      </p:sp>
      <p:sp>
        <p:nvSpPr>
          <p:cNvPr id="11" name="Bullet circle 3"/>
          <p:cNvSpPr/>
          <p:nvPr/>
        </p:nvSpPr>
        <p:spPr>
          <a:xfrm>
            <a:off x="457200" y="297180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097280" y="2926080"/>
            <a:ext cx="3383280" cy="274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Real uses</a:t>
            </a:r>
            <a:endParaRPr lang="en-US" sz="1600" dirty="0"/>
          </a:p>
        </p:txBody>
      </p:sp>
      <p:sp>
        <p:nvSpPr>
          <p:cNvPr id="14" name="Text 12"/>
          <p:cNvSpPr txBox="1"/>
          <p:nvPr/>
        </p:nvSpPr>
        <p:spPr>
          <a:xfrm>
            <a:off x="1097280" y="3218688"/>
            <a:ext cx="338328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price monitoring, market research, news, datasets</a:t>
            </a:r>
            <a:endParaRPr lang="en-US" sz="1400" dirty="0"/>
          </a:p>
        </p:txBody>
      </p:sp>
      <p:sp>
        <p:nvSpPr>
          <p:cNvPr id="15" name="Bullet circle 4"/>
          <p:cNvSpPr/>
          <p:nvPr/>
        </p:nvSpPr>
        <p:spPr>
          <a:xfrm>
            <a:off x="457200" y="384048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3840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097280" y="3794760"/>
            <a:ext cx="3383280" cy="274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it matters</a:t>
            </a:r>
            <a:endParaRPr lang="en-US" sz="1600" dirty="0"/>
          </a:p>
        </p:txBody>
      </p:sp>
      <p:sp>
        <p:nvSpPr>
          <p:cNvPr id="18" name="Text 16"/>
          <p:cNvSpPr txBox="1"/>
          <p:nvPr/>
        </p:nvSpPr>
        <p:spPr>
          <a:xfrm>
            <a:off x="1097280" y="4087368"/>
            <a:ext cx="338328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most useful data has no API or download button</a:t>
            </a:r>
            <a:endParaRPr lang="en-US" sz="1400" dirty="0"/>
          </a:p>
        </p:txBody>
      </p:sp>
      <p:sp>
        <p:nvSpPr>
          <p:cNvPr id="19" name="HTML panel"/>
          <p:cNvSpPr/>
          <p:nvPr/>
        </p:nvSpPr>
        <p:spPr>
          <a:xfrm>
            <a:off x="4846320" y="1188720"/>
            <a:ext cx="3840480" cy="1371600"/>
          </a:xfrm>
          <a:prstGeom prst="roundRect">
            <a:avLst>
              <a:gd name="adj" fmla="val 5333"/>
            </a:avLst>
          </a:prstGeom>
          <a:solidFill>
            <a:srgbClr val="1B2A2F"/>
          </a:solidFill>
          <a:ln w="12700">
            <a:solidFill>
              <a:srgbClr val="1B2A2F"/>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5029200" y="1298448"/>
            <a:ext cx="3474720" cy="1188720"/>
          </a:xfrm>
          <a:prstGeom prst="rect">
            <a:avLst/>
          </a:prstGeom>
          <a:noFill/>
          <a:ln/>
        </p:spPr>
        <p:txBody>
          <a:bodyPr wrap="square" lIns="0" tIns="0" rIns="0" bIns="0" rtlCol="0" anchor="ctr"/>
          <a:lstStyle/>
          <a:p>
            <a:pPr indent="0" marL="0">
              <a:buNone/>
            </a:pPr>
            <a:r>
              <a:rPr lang="en-US" sz="1200" dirty="0">
                <a:solidFill>
                  <a:srgbClr val="9BE0D0"/>
                </a:solidFill>
                <a:latin typeface="Courier New" pitchFamily="34" charset="0"/>
                <a:ea typeface="Courier New" pitchFamily="34" charset="-122"/>
                <a:cs typeface="Courier New" pitchFamily="34" charset="-120"/>
              </a:rPr>
              <a:t>&lt;div class="ad"&gt;</a:t>
            </a:r>
            <a:endParaRPr lang="en-US" sz="1200" dirty="0"/>
          </a:p>
          <a:p>
            <a:pPr indent="0" marL="0">
              <a:buNone/>
            </a:pPr>
            <a:r>
              <a:rPr lang="en-US" sz="1200" dirty="0">
                <a:solidFill>
                  <a:srgbClr val="9BE0D0"/>
                </a:solidFill>
                <a:latin typeface="Courier New" pitchFamily="34" charset="0"/>
                <a:ea typeface="Courier New" pitchFamily="34" charset="-122"/>
                <a:cs typeface="Courier New" pitchFamily="34" charset="-120"/>
              </a:rPr>
              <a:t>  &lt;span&gt;Nokia 105 Black&lt;/span&gt;</a:t>
            </a:r>
            <a:endParaRPr lang="en-US" sz="1200" dirty="0"/>
          </a:p>
          <a:p>
            <a:pPr indent="0" marL="0">
              <a:buNone/>
            </a:pPr>
            <a:r>
              <a:rPr lang="en-US" sz="1200" dirty="0">
                <a:solidFill>
                  <a:srgbClr val="9BE0D0"/>
                </a:solidFill>
                <a:latin typeface="Courier New" pitchFamily="34" charset="0"/>
                <a:ea typeface="Courier New" pitchFamily="34" charset="-122"/>
                <a:cs typeface="Courier New" pitchFamily="34" charset="-120"/>
              </a:rPr>
              <a:t>  &lt;b&gt;USh 65,000&lt;/b&gt;  Brand New</a:t>
            </a:r>
            <a:endParaRPr lang="en-US" sz="1200" dirty="0"/>
          </a:p>
          <a:p>
            <a:pPr indent="0" marL="0">
              <a:buNone/>
            </a:pPr>
            <a:r>
              <a:rPr lang="en-US" sz="1200" dirty="0">
                <a:solidFill>
                  <a:srgbClr val="9BE0D0"/>
                </a:solidFill>
                <a:latin typeface="Courier New" pitchFamily="34" charset="0"/>
                <a:ea typeface="Courier New" pitchFamily="34" charset="-122"/>
                <a:cs typeface="Courier New" pitchFamily="34" charset="-120"/>
              </a:rPr>
              <a:t>&lt;/div&gt;</a:t>
            </a:r>
            <a:endParaRPr lang="en-US" sz="1200" dirty="0"/>
          </a:p>
        </p:txBody>
      </p:sp>
      <p:sp>
        <p:nvSpPr>
          <p:cNvPr id="21" name="Text 19"/>
          <p:cNvSpPr txBox="1"/>
          <p:nvPr/>
        </p:nvSpPr>
        <p:spPr>
          <a:xfrm>
            <a:off x="4846320" y="2697480"/>
            <a:ext cx="3840480" cy="274320"/>
          </a:xfrm>
          <a:prstGeom prst="rect">
            <a:avLst/>
          </a:prstGeom>
          <a:noFill/>
          <a:ln/>
        </p:spPr>
        <p:txBody>
          <a:bodyPr wrap="square" lIns="0" tIns="0" rIns="0" bIns="0" rtlCol="0" anchor="t"/>
          <a:lstStyle/>
          <a:p>
            <a:pPr algn="ctr" indent="0" marL="0">
              <a:buNone/>
            </a:pPr>
            <a:r>
              <a:rPr lang="en-US" sz="1300" b="1" dirty="0">
                <a:solidFill>
                  <a:schemeClr val="accent1"/>
                </a:solidFill>
                <a:latin typeface="Calibri" pitchFamily="34" charset="0"/>
                <a:ea typeface="Calibri" pitchFamily="34" charset="-122"/>
                <a:cs typeface="Calibri" pitchFamily="34" charset="-120"/>
              </a:rPr>
              <a:t>▼  requests + BeautifulSoup</a:t>
            </a:r>
            <a:endParaRPr lang="en-US" sz="1300" dirty="0"/>
          </a:p>
        </p:txBody>
      </p:sp>
      <p:graphicFrame>
        <p:nvGraphicFramePr>
          <p:cNvPr id="3" name="Result table"/>
          <p:cNvGraphicFramePr>
            <a:graphicFrameLocks noGrp="1"/>
          </p:cNvGraphicFramePr>
          <p:nvPr>
            <p:extLst>
              <p:ext uri="{D42A27DB-BD31-4B8C-83A1-F6EECF244321}">
                <p14:modId xmlns:p14="http://schemas.microsoft.com/office/powerpoint/2010/main" val="1579011935"/>
              </p:ext>
            </p:extLst>
          </p:nvPr>
        </p:nvGraphicFramePr>
        <p:xfrm>
          <a:off x="4846320" y="3108960"/>
          <a:ext cx="3840480" cy="914400"/>
        </p:xfrm>
        <a:graphic>
          <a:graphicData uri="http://schemas.openxmlformats.org/drawingml/2006/table">
            <a:tbl>
              <a:tblPr/>
              <a:tblGrid>
                <a:gridCol w="1645920"/>
                <a:gridCol w="914400"/>
                <a:gridCol w="1280160"/>
              </a:tblGrid>
              <a:tr h="347472">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solidFill>
                      <a:schemeClr val="accent1"/>
                    </a:solidFill>
                  </a:tcPr>
                </a:tc>
              </a:tr>
              <a:tr h="347472">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Nokia 105 Black</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65,000</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Brand New</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tcPr>
                </a:tc>
              </a:tr>
              <a:tr h="347472">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Google Pixel 7a</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800,000</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Used</a:t>
                      </a:r>
                      <a:endParaRPr lang="en-US" sz="1200" dirty="0">
                        <a:latin typeface="Calibri" charset="0"/>
                        <a:ea typeface="Calibri" charset="0"/>
                        <a:cs typeface="Calibri" charset="0"/>
                      </a:endParaRPr>
                    </a:p>
                  </a:txBody>
                  <a:tcPr marL="91440" marR="91440" marT="45720" marB="45720">
                    <a:lnL w="9525" cap="flat" cmpd="sng" algn="ctr">
                      <a:solidFill>
                        <a:srgbClr val="CFE0E0"/>
                      </a:solidFill>
                      <a:prstDash val="solid"/>
                      <a:round/>
                      <a:headEnd type="none" w="med" len="med"/>
                      <a:tailEnd type="none" w="med" len="med"/>
                    </a:lnL>
                    <a:lnR w="9525" cap="flat" cmpd="sng" algn="ctr">
                      <a:solidFill>
                        <a:srgbClr val="CFE0E0"/>
                      </a:solidFill>
                      <a:prstDash val="solid"/>
                      <a:round/>
                      <a:headEnd type="none" w="med" len="med"/>
                      <a:tailEnd type="none" w="med" len="med"/>
                    </a:lnR>
                    <a:lnT w="9525" cap="flat" cmpd="sng" algn="ctr">
                      <a:solidFill>
                        <a:srgbClr val="CFE0E0"/>
                      </a:solidFill>
                      <a:prstDash val="solid"/>
                      <a:round/>
                      <a:headEnd type="none" w="med" len="med"/>
                      <a:tailEnd type="none" w="med" len="med"/>
                    </a:lnT>
                    <a:lnB w="9525" cap="flat" cmpd="sng" algn="ctr">
                      <a:solidFill>
                        <a:srgbClr val="CFE0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Objectives &amp; scope</a:t>
            </a:r>
            <a:endParaRPr lang="en-US" sz="3200" dirty="0"/>
          </a:p>
        </p:txBody>
      </p:sp>
      <p:sp>
        <p:nvSpPr>
          <p:cNvPr id="3" name="Stat card 1"/>
          <p:cNvSpPr/>
          <p:nvPr/>
        </p:nvSpPr>
        <p:spPr>
          <a:xfrm>
            <a:off x="457200" y="1188720"/>
            <a:ext cx="19202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325880"/>
            <a:ext cx="164592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Jiji</a:t>
            </a:r>
            <a:endParaRPr lang="en-US" sz="4000" dirty="0"/>
          </a:p>
        </p:txBody>
      </p:sp>
      <p:sp>
        <p:nvSpPr>
          <p:cNvPr id="5" name="Text 3"/>
          <p:cNvSpPr txBox="1"/>
          <p:nvPr/>
        </p:nvSpPr>
        <p:spPr>
          <a:xfrm>
            <a:off x="594360" y="210312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Uganda classifieds site</a:t>
            </a:r>
            <a:endParaRPr lang="en-US" sz="1400" dirty="0"/>
          </a:p>
        </p:txBody>
      </p:sp>
      <p:sp>
        <p:nvSpPr>
          <p:cNvPr id="6" name="Stat card 2"/>
          <p:cNvSpPr/>
          <p:nvPr/>
        </p:nvSpPr>
        <p:spPr>
          <a:xfrm>
            <a:off x="2542032" y="1188720"/>
            <a:ext cx="19202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679192" y="1325880"/>
            <a:ext cx="164592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8" name="Text 6"/>
          <p:cNvSpPr txBox="1"/>
          <p:nvPr/>
        </p:nvSpPr>
        <p:spPr>
          <a:xfrm>
            <a:off x="2679192" y="210312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categories: phones, tablets, smart watches</a:t>
            </a:r>
            <a:endParaRPr lang="en-US" sz="1400" dirty="0"/>
          </a:p>
        </p:txBody>
      </p:sp>
      <p:sp>
        <p:nvSpPr>
          <p:cNvPr id="9" name="Stat card 3"/>
          <p:cNvSpPr/>
          <p:nvPr/>
        </p:nvSpPr>
        <p:spPr>
          <a:xfrm>
            <a:off x="4626864" y="1188720"/>
            <a:ext cx="19202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764024" y="1325880"/>
            <a:ext cx="164592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500+</a:t>
            </a:r>
            <a:endParaRPr lang="en-US" sz="4000" dirty="0"/>
          </a:p>
        </p:txBody>
      </p:sp>
      <p:sp>
        <p:nvSpPr>
          <p:cNvPr id="11" name="Text 9"/>
          <p:cNvSpPr txBox="1"/>
          <p:nvPr/>
        </p:nvSpPr>
        <p:spPr>
          <a:xfrm>
            <a:off x="4764024" y="210312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listings per daily run</a:t>
            </a:r>
            <a:endParaRPr lang="en-US" sz="1400" dirty="0"/>
          </a:p>
        </p:txBody>
      </p:sp>
      <p:sp>
        <p:nvSpPr>
          <p:cNvPr id="12" name="Stat card 4"/>
          <p:cNvSpPr/>
          <p:nvPr/>
        </p:nvSpPr>
        <p:spPr>
          <a:xfrm>
            <a:off x="6711696" y="1188720"/>
            <a:ext cx="19202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848856" y="1325880"/>
            <a:ext cx="164592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a:t>
            </a:r>
            <a:endParaRPr lang="en-US" sz="4000" dirty="0"/>
          </a:p>
        </p:txBody>
      </p:sp>
      <p:sp>
        <p:nvSpPr>
          <p:cNvPr id="14" name="Text 12"/>
          <p:cNvSpPr txBox="1"/>
          <p:nvPr/>
        </p:nvSpPr>
        <p:spPr>
          <a:xfrm>
            <a:off x="6848856" y="210312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daily runs, raw files kept</a:t>
            </a:r>
            <a:endParaRPr lang="en-US" sz="1400" dirty="0"/>
          </a:p>
        </p:txBody>
      </p:sp>
      <p:sp>
        <p:nvSpPr>
          <p:cNvPr id="15" name="Text 13"/>
          <p:cNvSpPr txBox="1"/>
          <p:nvPr/>
        </p:nvSpPr>
        <p:spPr>
          <a:xfrm>
            <a:off x="457200" y="3200400"/>
            <a:ext cx="2743200" cy="274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Fields collected</a:t>
            </a:r>
            <a:endParaRPr lang="en-US" sz="1600" dirty="0"/>
          </a:p>
        </p:txBody>
      </p:sp>
      <p:sp>
        <p:nvSpPr>
          <p:cNvPr id="16" name="Field chip title"/>
          <p:cNvSpPr/>
          <p:nvPr/>
        </p:nvSpPr>
        <p:spPr>
          <a:xfrm>
            <a:off x="457200" y="3566160"/>
            <a:ext cx="1261872" cy="365760"/>
          </a:xfrm>
          <a:prstGeom prst="roundRect">
            <a:avLst>
              <a:gd name="adj" fmla="val 50000"/>
            </a:avLst>
          </a:prstGeom>
          <a:solidFill>
            <a:schemeClr val="accent1"/>
          </a:solidFill>
          <a:ln w="12700">
            <a:solidFill>
              <a:schemeClr val="accent1"/>
            </a:solidFill>
            <a:prstDash val="solid"/>
          </a:ln>
        </p:spPr>
      </p:sp>
      <p:sp>
        <p:nvSpPr>
          <p:cNvPr id="17" name="Text 15"/>
          <p:cNvSpPr txBox="1"/>
          <p:nvPr/>
        </p:nvSpPr>
        <p:spPr>
          <a:xfrm>
            <a:off x="457200" y="3566160"/>
            <a:ext cx="1261872"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title</a:t>
            </a:r>
            <a:endParaRPr lang="en-US" sz="1300" dirty="0"/>
          </a:p>
        </p:txBody>
      </p:sp>
      <p:sp>
        <p:nvSpPr>
          <p:cNvPr id="18" name="Field chip price"/>
          <p:cNvSpPr/>
          <p:nvPr/>
        </p:nvSpPr>
        <p:spPr>
          <a:xfrm>
            <a:off x="1828800" y="3566160"/>
            <a:ext cx="1261872" cy="365760"/>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1828800" y="3566160"/>
            <a:ext cx="1261872"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price</a:t>
            </a:r>
            <a:endParaRPr lang="en-US" sz="1300" dirty="0"/>
          </a:p>
        </p:txBody>
      </p:sp>
      <p:sp>
        <p:nvSpPr>
          <p:cNvPr id="20" name="Field chip condition"/>
          <p:cNvSpPr/>
          <p:nvPr/>
        </p:nvSpPr>
        <p:spPr>
          <a:xfrm>
            <a:off x="3200400" y="3566160"/>
            <a:ext cx="1261872" cy="365760"/>
          </a:xfrm>
          <a:prstGeom prst="roundRect">
            <a:avLst>
              <a:gd name="adj" fmla="val 50000"/>
            </a:avLst>
          </a:prstGeom>
          <a:solidFill>
            <a:schemeClr val="accent1"/>
          </a:solidFill>
          <a:ln w="12700">
            <a:solidFill>
              <a:schemeClr val="accent1"/>
            </a:solidFill>
            <a:prstDash val="solid"/>
          </a:ln>
        </p:spPr>
      </p:sp>
      <p:sp>
        <p:nvSpPr>
          <p:cNvPr id="21" name="Text 19"/>
          <p:cNvSpPr txBox="1"/>
          <p:nvPr/>
        </p:nvSpPr>
        <p:spPr>
          <a:xfrm>
            <a:off x="3200400" y="3566160"/>
            <a:ext cx="1261872"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condition</a:t>
            </a:r>
            <a:endParaRPr lang="en-US" sz="1300" dirty="0"/>
          </a:p>
        </p:txBody>
      </p:sp>
      <p:sp>
        <p:nvSpPr>
          <p:cNvPr id="22" name="Field chip location"/>
          <p:cNvSpPr/>
          <p:nvPr/>
        </p:nvSpPr>
        <p:spPr>
          <a:xfrm>
            <a:off x="4572000" y="3566160"/>
            <a:ext cx="1261872" cy="365760"/>
          </a:xfrm>
          <a:prstGeom prst="roundRect">
            <a:avLst>
              <a:gd name="adj" fmla="val 50000"/>
            </a:avLst>
          </a:prstGeom>
          <a:solidFill>
            <a:schemeClr val="accent1"/>
          </a:solidFill>
          <a:ln w="12700">
            <a:solidFill>
              <a:schemeClr val="accent1"/>
            </a:solidFill>
            <a:prstDash val="solid"/>
          </a:ln>
        </p:spPr>
      </p:sp>
      <p:sp>
        <p:nvSpPr>
          <p:cNvPr id="23" name="Text 21"/>
          <p:cNvSpPr txBox="1"/>
          <p:nvPr/>
        </p:nvSpPr>
        <p:spPr>
          <a:xfrm>
            <a:off x="4572000" y="3566160"/>
            <a:ext cx="1261872"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location</a:t>
            </a:r>
            <a:endParaRPr lang="en-US" sz="1300" dirty="0"/>
          </a:p>
        </p:txBody>
      </p:sp>
      <p:sp>
        <p:nvSpPr>
          <p:cNvPr id="24" name="Field chip listing URL"/>
          <p:cNvSpPr/>
          <p:nvPr/>
        </p:nvSpPr>
        <p:spPr>
          <a:xfrm>
            <a:off x="5943600" y="3566160"/>
            <a:ext cx="1261872" cy="365760"/>
          </a:xfrm>
          <a:prstGeom prst="roundRect">
            <a:avLst>
              <a:gd name="adj" fmla="val 50000"/>
            </a:avLst>
          </a:prstGeom>
          <a:solidFill>
            <a:schemeClr val="accent1"/>
          </a:solidFill>
          <a:ln w="12700">
            <a:solidFill>
              <a:schemeClr val="accent1"/>
            </a:solidFill>
            <a:prstDash val="solid"/>
          </a:ln>
        </p:spPr>
      </p:sp>
      <p:sp>
        <p:nvSpPr>
          <p:cNvPr id="25" name="Text 23"/>
          <p:cNvSpPr txBox="1"/>
          <p:nvPr/>
        </p:nvSpPr>
        <p:spPr>
          <a:xfrm>
            <a:off x="5943600" y="3566160"/>
            <a:ext cx="1261872"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listing URL</a:t>
            </a:r>
            <a:endParaRPr lang="en-US" sz="1300" dirty="0"/>
          </a:p>
        </p:txBody>
      </p:sp>
      <p:sp>
        <p:nvSpPr>
          <p:cNvPr id="26" name="Field chip scraped_at"/>
          <p:cNvSpPr/>
          <p:nvPr/>
        </p:nvSpPr>
        <p:spPr>
          <a:xfrm>
            <a:off x="7315200" y="3566160"/>
            <a:ext cx="1261872" cy="365760"/>
          </a:xfrm>
          <a:prstGeom prst="roundRect">
            <a:avLst>
              <a:gd name="adj" fmla="val 50000"/>
            </a:avLst>
          </a:prstGeom>
          <a:solidFill>
            <a:schemeClr val="accent1"/>
          </a:solidFill>
          <a:ln w="12700">
            <a:solidFill>
              <a:schemeClr val="accent1"/>
            </a:solidFill>
            <a:prstDash val="solid"/>
          </a:ln>
        </p:spPr>
      </p:sp>
      <p:sp>
        <p:nvSpPr>
          <p:cNvPr id="27" name="Text 25"/>
          <p:cNvSpPr txBox="1"/>
          <p:nvPr/>
        </p:nvSpPr>
        <p:spPr>
          <a:xfrm>
            <a:off x="7315200" y="3566160"/>
            <a:ext cx="1261872"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scraped_at</a:t>
            </a:r>
            <a:endParaRPr lang="en-US" sz="1300" dirty="0"/>
          </a:p>
        </p:txBody>
      </p:sp>
      <p:sp>
        <p:nvSpPr>
          <p:cNvPr id="28" name="Text 26"/>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Excluded by design: seller names, phone numbers, descriptions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Tools &amp; technology stack</a:t>
            </a:r>
            <a:endParaRPr lang="en-US" sz="3200" dirty="0"/>
          </a:p>
        </p:txBody>
      </p:sp>
      <p:sp>
        <p:nvSpPr>
          <p:cNvPr id="3" name="Tool card Python"/>
          <p:cNvSpPr/>
          <p:nvPr/>
        </p:nvSpPr>
        <p:spPr>
          <a:xfrm>
            <a:off x="457200" y="1234440"/>
            <a:ext cx="26517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ool dot Python"/>
          <p:cNvSpPr/>
          <p:nvPr/>
        </p:nvSpPr>
        <p:spPr>
          <a:xfrm>
            <a:off x="640080" y="141732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640080" y="1965960"/>
            <a:ext cx="2286000" cy="320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Python</a:t>
            </a:r>
            <a:endParaRPr lang="en-US" sz="1800" dirty="0"/>
          </a:p>
        </p:txBody>
      </p:sp>
      <p:sp>
        <p:nvSpPr>
          <p:cNvPr id="6" name="Text 4"/>
          <p:cNvSpPr txBox="1"/>
          <p:nvPr/>
        </p:nvSpPr>
        <p:spPr>
          <a:xfrm>
            <a:off x="640080" y="2286000"/>
            <a:ext cx="22860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main language</a:t>
            </a:r>
            <a:endParaRPr lang="en-US" sz="1400" dirty="0"/>
          </a:p>
        </p:txBody>
      </p:sp>
      <p:sp>
        <p:nvSpPr>
          <p:cNvPr id="7" name="Tool card requests"/>
          <p:cNvSpPr/>
          <p:nvPr/>
        </p:nvSpPr>
        <p:spPr>
          <a:xfrm>
            <a:off x="3246120" y="1234440"/>
            <a:ext cx="26517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ool dot requests"/>
          <p:cNvSpPr/>
          <p:nvPr/>
        </p:nvSpPr>
        <p:spPr>
          <a:xfrm>
            <a:off x="3429000" y="1417320"/>
            <a:ext cx="411480" cy="411480"/>
          </a:xfrm>
          <a:prstGeom prst="ellipse">
            <a:avLst/>
          </a:prstGeom>
          <a:solidFill>
            <a:schemeClr val="accent1"/>
          </a:solidFill>
          <a:ln w="12700">
            <a:solidFill>
              <a:schemeClr val="accent1"/>
            </a:solidFill>
            <a:prstDash val="solid"/>
          </a:ln>
        </p:spPr>
      </p:sp>
      <p:sp>
        <p:nvSpPr>
          <p:cNvPr id="9" name="Text 7"/>
          <p:cNvSpPr txBox="1"/>
          <p:nvPr/>
        </p:nvSpPr>
        <p:spPr>
          <a:xfrm>
            <a:off x="3429000" y="1965960"/>
            <a:ext cx="2286000" cy="320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requests</a:t>
            </a:r>
            <a:endParaRPr lang="en-US" sz="1800" dirty="0"/>
          </a:p>
        </p:txBody>
      </p:sp>
      <p:sp>
        <p:nvSpPr>
          <p:cNvPr id="10" name="Text 8"/>
          <p:cNvSpPr txBox="1"/>
          <p:nvPr/>
        </p:nvSpPr>
        <p:spPr>
          <a:xfrm>
            <a:off x="3429000" y="2286000"/>
            <a:ext cx="22860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HTTP session, headers, timeouts</a:t>
            </a:r>
            <a:endParaRPr lang="en-US" sz="1400" dirty="0"/>
          </a:p>
        </p:txBody>
      </p:sp>
      <p:sp>
        <p:nvSpPr>
          <p:cNvPr id="11" name="Tool card BeautifulSoup4"/>
          <p:cNvSpPr/>
          <p:nvPr/>
        </p:nvSpPr>
        <p:spPr>
          <a:xfrm>
            <a:off x="6035040" y="1234440"/>
            <a:ext cx="26517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ool dot BeautifulSoup4"/>
          <p:cNvSpPr/>
          <p:nvPr/>
        </p:nvSpPr>
        <p:spPr>
          <a:xfrm>
            <a:off x="6217920" y="1417320"/>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6217920" y="1965960"/>
            <a:ext cx="2286000" cy="320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BeautifulSoup4</a:t>
            </a:r>
            <a:endParaRPr lang="en-US" sz="1800" dirty="0"/>
          </a:p>
        </p:txBody>
      </p:sp>
      <p:sp>
        <p:nvSpPr>
          <p:cNvPr id="14" name="Text 12"/>
          <p:cNvSpPr txBox="1"/>
          <p:nvPr/>
        </p:nvSpPr>
        <p:spPr>
          <a:xfrm>
            <a:off x="6217920" y="2286000"/>
            <a:ext cx="22860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HTML parsing, DOM navigation</a:t>
            </a:r>
            <a:endParaRPr lang="en-US" sz="1400" dirty="0"/>
          </a:p>
        </p:txBody>
      </p:sp>
      <p:sp>
        <p:nvSpPr>
          <p:cNvPr id="15" name="Tool card re (regex)"/>
          <p:cNvSpPr/>
          <p:nvPr/>
        </p:nvSpPr>
        <p:spPr>
          <a:xfrm>
            <a:off x="457200" y="2971800"/>
            <a:ext cx="26517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ool dot re (regex)"/>
          <p:cNvSpPr/>
          <p:nvPr/>
        </p:nvSpPr>
        <p:spPr>
          <a:xfrm>
            <a:off x="640080" y="3154680"/>
            <a:ext cx="411480" cy="411480"/>
          </a:xfrm>
          <a:prstGeom prst="ellipse">
            <a:avLst/>
          </a:prstGeom>
          <a:solidFill>
            <a:schemeClr val="accent5"/>
          </a:solidFill>
          <a:ln w="12700">
            <a:solidFill>
              <a:schemeClr val="accent5"/>
            </a:solidFill>
            <a:prstDash val="solid"/>
          </a:ln>
        </p:spPr>
      </p:sp>
      <p:sp>
        <p:nvSpPr>
          <p:cNvPr id="17" name="Text 15"/>
          <p:cNvSpPr txBox="1"/>
          <p:nvPr/>
        </p:nvSpPr>
        <p:spPr>
          <a:xfrm>
            <a:off x="640080" y="3703320"/>
            <a:ext cx="2286000" cy="320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re (regex)</a:t>
            </a:r>
            <a:endParaRPr lang="en-US" sz="1800" dirty="0"/>
          </a:p>
        </p:txBody>
      </p:sp>
      <p:sp>
        <p:nvSpPr>
          <p:cNvPr id="18" name="Text 16"/>
          <p:cNvSpPr txBox="1"/>
          <p:nvPr/>
        </p:nvSpPr>
        <p:spPr>
          <a:xfrm>
            <a:off x="640080" y="4023360"/>
            <a:ext cx="22860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prices, discounts, URL patterns</a:t>
            </a:r>
            <a:endParaRPr lang="en-US" sz="1400" dirty="0"/>
          </a:p>
        </p:txBody>
      </p:sp>
      <p:sp>
        <p:nvSpPr>
          <p:cNvPr id="19" name="Tool card pandas · seaborn"/>
          <p:cNvSpPr/>
          <p:nvPr/>
        </p:nvSpPr>
        <p:spPr>
          <a:xfrm>
            <a:off x="3246120" y="2971800"/>
            <a:ext cx="26517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Tool dot pandas · seaborn"/>
          <p:cNvSpPr/>
          <p:nvPr/>
        </p:nvSpPr>
        <p:spPr>
          <a:xfrm>
            <a:off x="3429000" y="3154680"/>
            <a:ext cx="411480" cy="411480"/>
          </a:xfrm>
          <a:prstGeom prst="ellipse">
            <a:avLst/>
          </a:prstGeom>
          <a:solidFill>
            <a:schemeClr val="accent5"/>
          </a:solidFill>
          <a:ln w="12700">
            <a:solidFill>
              <a:schemeClr val="accent5"/>
            </a:solidFill>
            <a:prstDash val="solid"/>
          </a:ln>
        </p:spPr>
      </p:sp>
      <p:sp>
        <p:nvSpPr>
          <p:cNvPr id="21" name="Text 19"/>
          <p:cNvSpPr txBox="1"/>
          <p:nvPr/>
        </p:nvSpPr>
        <p:spPr>
          <a:xfrm>
            <a:off x="3429000" y="3703320"/>
            <a:ext cx="2286000" cy="320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pandas · seaborn</a:t>
            </a:r>
            <a:endParaRPr lang="en-US" sz="1800" dirty="0"/>
          </a:p>
        </p:txBody>
      </p:sp>
      <p:sp>
        <p:nvSpPr>
          <p:cNvPr id="22" name="Text 20"/>
          <p:cNvSpPr txBox="1"/>
          <p:nvPr/>
        </p:nvSpPr>
        <p:spPr>
          <a:xfrm>
            <a:off x="3429000" y="4023360"/>
            <a:ext cx="22860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cleaning and analysis</a:t>
            </a:r>
            <a:endParaRPr lang="en-US" sz="1400" dirty="0"/>
          </a:p>
        </p:txBody>
      </p:sp>
      <p:sp>
        <p:nvSpPr>
          <p:cNvPr id="23" name="Tool card SQLite + Git"/>
          <p:cNvSpPr/>
          <p:nvPr/>
        </p:nvSpPr>
        <p:spPr>
          <a:xfrm>
            <a:off x="6035040" y="2971800"/>
            <a:ext cx="26517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ool dot SQLite + Git"/>
          <p:cNvSpPr/>
          <p:nvPr/>
        </p:nvSpPr>
        <p:spPr>
          <a:xfrm>
            <a:off x="6217920" y="3154680"/>
            <a:ext cx="411480" cy="411480"/>
          </a:xfrm>
          <a:prstGeom prst="ellipse">
            <a:avLst/>
          </a:prstGeom>
          <a:solidFill>
            <a:schemeClr val="accent5"/>
          </a:solidFill>
          <a:ln w="12700">
            <a:solidFill>
              <a:schemeClr val="accent5"/>
            </a:solidFill>
            <a:prstDash val="solid"/>
          </a:ln>
        </p:spPr>
      </p:sp>
      <p:sp>
        <p:nvSpPr>
          <p:cNvPr id="25" name="Text 23"/>
          <p:cNvSpPr txBox="1"/>
          <p:nvPr/>
        </p:nvSpPr>
        <p:spPr>
          <a:xfrm>
            <a:off x="6217920" y="3703320"/>
            <a:ext cx="2286000" cy="320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SQLite + Git</a:t>
            </a:r>
            <a:endParaRPr lang="en-US" sz="1800" dirty="0"/>
          </a:p>
        </p:txBody>
      </p:sp>
      <p:sp>
        <p:nvSpPr>
          <p:cNvPr id="26" name="Text 24"/>
          <p:cNvSpPr txBox="1"/>
          <p:nvPr/>
        </p:nvSpPr>
        <p:spPr>
          <a:xfrm>
            <a:off x="6217920" y="4023360"/>
            <a:ext cx="22860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relational storage, team workflow</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Static vs dynamic content</a:t>
            </a:r>
            <a:endParaRPr lang="en-US" sz="3200" dirty="0"/>
          </a:p>
        </p:txBody>
      </p:sp>
      <p:sp>
        <p:nvSpPr>
          <p:cNvPr id="3" name="Static card"/>
          <p:cNvSpPr/>
          <p:nvPr/>
        </p:nvSpPr>
        <p:spPr>
          <a:xfrm>
            <a:off x="457200" y="1188720"/>
            <a:ext cx="402336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Dynamic card"/>
          <p:cNvSpPr/>
          <p:nvPr/>
        </p:nvSpPr>
        <p:spPr>
          <a:xfrm>
            <a:off x="4663440" y="1188720"/>
            <a:ext cx="402336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Chosen tag"/>
          <p:cNvSpPr/>
          <p:nvPr/>
        </p:nvSpPr>
        <p:spPr>
          <a:xfrm>
            <a:off x="640080" y="1371600"/>
            <a:ext cx="1737360" cy="347472"/>
          </a:xfrm>
          <a:prstGeom prst="roundRect">
            <a:avLst>
              <a:gd name="adj" fmla="val 50000"/>
            </a:avLst>
          </a:prstGeom>
          <a:solidFill>
            <a:schemeClr val="accent3"/>
          </a:solidFill>
          <a:ln w="12700">
            <a:solidFill>
              <a:schemeClr val="accent3"/>
            </a:solidFill>
            <a:prstDash val="solid"/>
          </a:ln>
        </p:spPr>
      </p:sp>
      <p:sp>
        <p:nvSpPr>
          <p:cNvPr id="6" name="Text 4"/>
          <p:cNvSpPr txBox="1"/>
          <p:nvPr/>
        </p:nvSpPr>
        <p:spPr>
          <a:xfrm>
            <a:off x="640080" y="1371600"/>
            <a:ext cx="17373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OUR CHOICE</a:t>
            </a:r>
            <a:endParaRPr lang="en-US" sz="1200" dirty="0"/>
          </a:p>
        </p:txBody>
      </p:sp>
      <p:sp>
        <p:nvSpPr>
          <p:cNvPr id="7" name="Text 5"/>
          <p:cNvSpPr txBox="1"/>
          <p:nvPr/>
        </p:nvSpPr>
        <p:spPr>
          <a:xfrm>
            <a:off x="640080" y="1828800"/>
            <a:ext cx="3657600" cy="36576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Static pages</a:t>
            </a:r>
            <a:endParaRPr lang="en-US" sz="2400" dirty="0"/>
          </a:p>
        </p:txBody>
      </p:sp>
      <p:sp>
        <p:nvSpPr>
          <p:cNvPr id="8" name="Text 6"/>
          <p:cNvSpPr txBox="1"/>
          <p:nvPr/>
        </p:nvSpPr>
        <p:spPr>
          <a:xfrm>
            <a:off x="640080" y="233172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Data is already in the HTML the server sends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requests + BeautifulSoup</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Fast, few requests, light on the server</a:t>
            </a:r>
            <a:endParaRPr lang="en-US" sz="1400" dirty="0"/>
          </a:p>
        </p:txBody>
      </p:sp>
      <p:sp>
        <p:nvSpPr>
          <p:cNvPr id="9" name="Text 7"/>
          <p:cNvSpPr txBox="1"/>
          <p:nvPr/>
        </p:nvSpPr>
        <p:spPr>
          <a:xfrm>
            <a:off x="4846320" y="1828800"/>
            <a:ext cx="3657600" cy="36576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Dynamic pages</a:t>
            </a:r>
            <a:endParaRPr lang="en-US" sz="2400" dirty="0"/>
          </a:p>
        </p:txBody>
      </p:sp>
      <p:sp>
        <p:nvSpPr>
          <p:cNvPr id="10" name="Text 8"/>
          <p:cNvSpPr txBox="1"/>
          <p:nvPr/>
        </p:nvSpPr>
        <p:spPr>
          <a:xfrm>
            <a:off x="4846320" y="233172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JavaScript injects the data after load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Needs Selenium / Playwright or the site's JSON endpoints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Slower and heavier</a:t>
            </a:r>
            <a:endParaRPr lang="en-US" sz="1400" dirty="0"/>
          </a:p>
        </p:txBody>
      </p:sp>
      <p:sp>
        <p:nvSpPr>
          <p:cNvPr id="11" name="Text 9"/>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Recon finding: Jiji category pages ship listing cards in the HTML, so the lightweight approach was enough.</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scraping pipeline</a:t>
            </a:r>
            <a:endParaRPr lang="en-US" sz="3200" dirty="0"/>
          </a:p>
        </p:txBody>
      </p:sp>
      <p:sp>
        <p:nvSpPr>
          <p:cNvPr id="3" name="Step circle 1"/>
          <p:cNvSpPr/>
          <p:nvPr/>
        </p:nvSpPr>
        <p:spPr>
          <a:xfrm>
            <a:off x="731520" y="1325880"/>
            <a:ext cx="640080" cy="640080"/>
          </a:xfrm>
          <a:prstGeom prst="ellipse">
            <a:avLst/>
          </a:prstGeom>
          <a:solidFill>
            <a:schemeClr val="accent1"/>
          </a:solidFill>
          <a:ln w="12700">
            <a:solidFill>
              <a:schemeClr val="bg1"/>
            </a:solidFill>
            <a:prstDash val="solid"/>
          </a:ln>
        </p:spPr>
      </p:sp>
      <p:sp>
        <p:nvSpPr>
          <p:cNvPr id="4" name="Text 2"/>
          <p:cNvSpPr txBox="1"/>
          <p:nvPr/>
        </p:nvSpPr>
        <p:spPr>
          <a:xfrm>
            <a:off x="731520"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5" name="Arrow 1"/>
          <p:cNvSpPr/>
          <p:nvPr/>
        </p:nvSpPr>
        <p:spPr>
          <a:xfrm>
            <a:off x="1417320" y="1645920"/>
            <a:ext cx="658368" cy="0"/>
          </a:xfrm>
          <a:prstGeom prst="line">
            <a:avLst/>
          </a:prstGeom>
          <a:noFill/>
          <a:ln w="25400">
            <a:solidFill>
              <a:schemeClr val="accent6"/>
            </a:solidFill>
            <a:prstDash val="solid"/>
            <a:tailEnd type="triangle"/>
          </a:ln>
        </p:spPr>
      </p:sp>
      <p:sp>
        <p:nvSpPr>
          <p:cNvPr id="6" name="Text 4"/>
          <p:cNvSpPr txBox="1"/>
          <p:nvPr/>
        </p:nvSpPr>
        <p:spPr>
          <a:xfrm>
            <a:off x="411480" y="2103120"/>
            <a:ext cx="12801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Check</a:t>
            </a:r>
            <a:endParaRPr lang="en-US" sz="1600" dirty="0"/>
          </a:p>
        </p:txBody>
      </p:sp>
      <p:sp>
        <p:nvSpPr>
          <p:cNvPr id="7" name="Text 5"/>
          <p:cNvSpPr txBox="1"/>
          <p:nvPr/>
        </p:nvSpPr>
        <p:spPr>
          <a:xfrm>
            <a:off x="411480" y="2423160"/>
            <a:ext cx="1280160" cy="7315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robots.txt, saved as evidence</a:t>
            </a:r>
            <a:endParaRPr lang="en-US" sz="1300" dirty="0"/>
          </a:p>
        </p:txBody>
      </p:sp>
      <p:sp>
        <p:nvSpPr>
          <p:cNvPr id="8" name="Step circle 2"/>
          <p:cNvSpPr/>
          <p:nvPr/>
        </p:nvSpPr>
        <p:spPr>
          <a:xfrm>
            <a:off x="2121408" y="1325880"/>
            <a:ext cx="640080" cy="640080"/>
          </a:xfrm>
          <a:prstGeom prst="ellipse">
            <a:avLst/>
          </a:prstGeom>
          <a:solidFill>
            <a:schemeClr val="accent1"/>
          </a:solidFill>
          <a:ln w="12700">
            <a:solidFill>
              <a:schemeClr val="bg1"/>
            </a:solidFill>
            <a:prstDash val="solid"/>
          </a:ln>
        </p:spPr>
      </p:sp>
      <p:sp>
        <p:nvSpPr>
          <p:cNvPr id="9" name="Text 7"/>
          <p:cNvSpPr txBox="1"/>
          <p:nvPr/>
        </p:nvSpPr>
        <p:spPr>
          <a:xfrm>
            <a:off x="2121408"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10" name="Arrow 2"/>
          <p:cNvSpPr/>
          <p:nvPr/>
        </p:nvSpPr>
        <p:spPr>
          <a:xfrm>
            <a:off x="2807208" y="1645920"/>
            <a:ext cx="658368" cy="0"/>
          </a:xfrm>
          <a:prstGeom prst="line">
            <a:avLst/>
          </a:prstGeom>
          <a:noFill/>
          <a:ln w="25400">
            <a:solidFill>
              <a:schemeClr val="accent6"/>
            </a:solidFill>
            <a:prstDash val="solid"/>
            <a:tailEnd type="triangle"/>
          </a:ln>
        </p:spPr>
      </p:sp>
      <p:sp>
        <p:nvSpPr>
          <p:cNvPr id="11" name="Text 9"/>
          <p:cNvSpPr txBox="1"/>
          <p:nvPr/>
        </p:nvSpPr>
        <p:spPr>
          <a:xfrm>
            <a:off x="1801368" y="2103120"/>
            <a:ext cx="12801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Fetch</a:t>
            </a:r>
            <a:endParaRPr lang="en-US" sz="1600" dirty="0"/>
          </a:p>
        </p:txBody>
      </p:sp>
      <p:sp>
        <p:nvSpPr>
          <p:cNvPr id="12" name="Text 10"/>
          <p:cNvSpPr txBox="1"/>
          <p:nvPr/>
        </p:nvSpPr>
        <p:spPr>
          <a:xfrm>
            <a:off x="1801368" y="2423160"/>
            <a:ext cx="1280160" cy="7315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category page, 2–5 s delay</a:t>
            </a:r>
            <a:endParaRPr lang="en-US" sz="1300" dirty="0"/>
          </a:p>
        </p:txBody>
      </p:sp>
      <p:sp>
        <p:nvSpPr>
          <p:cNvPr id="13" name="Step circle 3"/>
          <p:cNvSpPr/>
          <p:nvPr/>
        </p:nvSpPr>
        <p:spPr>
          <a:xfrm>
            <a:off x="3511296" y="1325880"/>
            <a:ext cx="640080" cy="640080"/>
          </a:xfrm>
          <a:prstGeom prst="ellipse">
            <a:avLst/>
          </a:prstGeom>
          <a:solidFill>
            <a:schemeClr val="accent1"/>
          </a:solidFill>
          <a:ln w="12700">
            <a:solidFill>
              <a:schemeClr val="bg1"/>
            </a:solidFill>
            <a:prstDash val="solid"/>
          </a:ln>
        </p:spPr>
      </p:sp>
      <p:sp>
        <p:nvSpPr>
          <p:cNvPr id="14" name="Text 12"/>
          <p:cNvSpPr txBox="1"/>
          <p:nvPr/>
        </p:nvSpPr>
        <p:spPr>
          <a:xfrm>
            <a:off x="3511296"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15" name="Arrow 3"/>
          <p:cNvSpPr/>
          <p:nvPr/>
        </p:nvSpPr>
        <p:spPr>
          <a:xfrm>
            <a:off x="4197096" y="1645920"/>
            <a:ext cx="658368" cy="0"/>
          </a:xfrm>
          <a:prstGeom prst="line">
            <a:avLst/>
          </a:prstGeom>
          <a:noFill/>
          <a:ln w="25400">
            <a:solidFill>
              <a:schemeClr val="accent6"/>
            </a:solidFill>
            <a:prstDash val="solid"/>
            <a:tailEnd type="triangle"/>
          </a:ln>
        </p:spPr>
      </p:sp>
      <p:sp>
        <p:nvSpPr>
          <p:cNvPr id="16" name="Text 14"/>
          <p:cNvSpPr txBox="1"/>
          <p:nvPr/>
        </p:nvSpPr>
        <p:spPr>
          <a:xfrm>
            <a:off x="3191256" y="2103120"/>
            <a:ext cx="12801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Parse</a:t>
            </a:r>
            <a:endParaRPr lang="en-US" sz="1600" dirty="0"/>
          </a:p>
        </p:txBody>
      </p:sp>
      <p:sp>
        <p:nvSpPr>
          <p:cNvPr id="17" name="Text 15"/>
          <p:cNvSpPr txBox="1"/>
          <p:nvPr/>
        </p:nvSpPr>
        <p:spPr>
          <a:xfrm>
            <a:off x="3191256" y="2423160"/>
            <a:ext cx="1280160" cy="7315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listing cards from HTML</a:t>
            </a:r>
            <a:endParaRPr lang="en-US" sz="1300" dirty="0"/>
          </a:p>
        </p:txBody>
      </p:sp>
      <p:sp>
        <p:nvSpPr>
          <p:cNvPr id="18" name="Step circle 4"/>
          <p:cNvSpPr/>
          <p:nvPr/>
        </p:nvSpPr>
        <p:spPr>
          <a:xfrm>
            <a:off x="4901184" y="1325880"/>
            <a:ext cx="640080" cy="640080"/>
          </a:xfrm>
          <a:prstGeom prst="ellipse">
            <a:avLst/>
          </a:prstGeom>
          <a:solidFill>
            <a:schemeClr val="accent5"/>
          </a:solidFill>
          <a:ln w="12700">
            <a:solidFill>
              <a:schemeClr val="bg1"/>
            </a:solidFill>
            <a:prstDash val="solid"/>
          </a:ln>
        </p:spPr>
      </p:sp>
      <p:sp>
        <p:nvSpPr>
          <p:cNvPr id="19" name="Text 17"/>
          <p:cNvSpPr txBox="1"/>
          <p:nvPr/>
        </p:nvSpPr>
        <p:spPr>
          <a:xfrm>
            <a:off x="4901184"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4</a:t>
            </a:r>
            <a:endParaRPr lang="en-US" sz="2200" dirty="0"/>
          </a:p>
        </p:txBody>
      </p:sp>
      <p:sp>
        <p:nvSpPr>
          <p:cNvPr id="20" name="Arrow 4"/>
          <p:cNvSpPr/>
          <p:nvPr/>
        </p:nvSpPr>
        <p:spPr>
          <a:xfrm>
            <a:off x="5586984" y="1645920"/>
            <a:ext cx="658368" cy="0"/>
          </a:xfrm>
          <a:prstGeom prst="line">
            <a:avLst/>
          </a:prstGeom>
          <a:noFill/>
          <a:ln w="25400">
            <a:solidFill>
              <a:schemeClr val="accent6"/>
            </a:solidFill>
            <a:prstDash val="solid"/>
            <a:tailEnd type="triangle"/>
          </a:ln>
        </p:spPr>
      </p:sp>
      <p:sp>
        <p:nvSpPr>
          <p:cNvPr id="21" name="Text 19"/>
          <p:cNvSpPr txBox="1"/>
          <p:nvPr/>
        </p:nvSpPr>
        <p:spPr>
          <a:xfrm>
            <a:off x="4581144" y="2103120"/>
            <a:ext cx="12801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Paginate</a:t>
            </a:r>
            <a:endParaRPr lang="en-US" sz="1600" dirty="0"/>
          </a:p>
        </p:txBody>
      </p:sp>
      <p:sp>
        <p:nvSpPr>
          <p:cNvPr id="22" name="Text 20"/>
          <p:cNvSpPr txBox="1"/>
          <p:nvPr/>
        </p:nvSpPr>
        <p:spPr>
          <a:xfrm>
            <a:off x="4581144" y="2423160"/>
            <a:ext cx="1280160" cy="7315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?page=2, 3… until 200 listings</a:t>
            </a:r>
            <a:endParaRPr lang="en-US" sz="1300" dirty="0"/>
          </a:p>
        </p:txBody>
      </p:sp>
      <p:sp>
        <p:nvSpPr>
          <p:cNvPr id="23" name="Step circle 5"/>
          <p:cNvSpPr/>
          <p:nvPr/>
        </p:nvSpPr>
        <p:spPr>
          <a:xfrm>
            <a:off x="6291072" y="1325880"/>
            <a:ext cx="640080" cy="640080"/>
          </a:xfrm>
          <a:prstGeom prst="ellipse">
            <a:avLst/>
          </a:prstGeom>
          <a:solidFill>
            <a:schemeClr val="accent5"/>
          </a:solidFill>
          <a:ln w="12700">
            <a:solidFill>
              <a:schemeClr val="bg1"/>
            </a:solidFill>
            <a:prstDash val="solid"/>
          </a:ln>
        </p:spPr>
      </p:sp>
      <p:sp>
        <p:nvSpPr>
          <p:cNvPr id="24" name="Text 22"/>
          <p:cNvSpPr txBox="1"/>
          <p:nvPr/>
        </p:nvSpPr>
        <p:spPr>
          <a:xfrm>
            <a:off x="6291072"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5</a:t>
            </a:r>
            <a:endParaRPr lang="en-US" sz="2200" dirty="0"/>
          </a:p>
        </p:txBody>
      </p:sp>
      <p:sp>
        <p:nvSpPr>
          <p:cNvPr id="25" name="Arrow 5"/>
          <p:cNvSpPr/>
          <p:nvPr/>
        </p:nvSpPr>
        <p:spPr>
          <a:xfrm>
            <a:off x="6976872" y="1645920"/>
            <a:ext cx="658368" cy="0"/>
          </a:xfrm>
          <a:prstGeom prst="line">
            <a:avLst/>
          </a:prstGeom>
          <a:noFill/>
          <a:ln w="25400">
            <a:solidFill>
              <a:schemeClr val="accent6"/>
            </a:solidFill>
            <a:prstDash val="solid"/>
            <a:tailEnd type="triangle"/>
          </a:ln>
        </p:spPr>
      </p:sp>
      <p:sp>
        <p:nvSpPr>
          <p:cNvPr id="26" name="Text 24"/>
          <p:cNvSpPr txBox="1"/>
          <p:nvPr/>
        </p:nvSpPr>
        <p:spPr>
          <a:xfrm>
            <a:off x="5971032" y="2103120"/>
            <a:ext cx="12801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Save</a:t>
            </a:r>
            <a:endParaRPr lang="en-US" sz="1600" dirty="0"/>
          </a:p>
        </p:txBody>
      </p:sp>
      <p:sp>
        <p:nvSpPr>
          <p:cNvPr id="27" name="Text 25"/>
          <p:cNvSpPr txBox="1"/>
          <p:nvPr/>
        </p:nvSpPr>
        <p:spPr>
          <a:xfrm>
            <a:off x="5971032" y="2423160"/>
            <a:ext cx="1280160" cy="7315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raw JSON + run metadata</a:t>
            </a:r>
            <a:endParaRPr lang="en-US" sz="1300" dirty="0"/>
          </a:p>
        </p:txBody>
      </p:sp>
      <p:sp>
        <p:nvSpPr>
          <p:cNvPr id="28" name="Step circle 6"/>
          <p:cNvSpPr/>
          <p:nvPr/>
        </p:nvSpPr>
        <p:spPr>
          <a:xfrm>
            <a:off x="7680960" y="1325880"/>
            <a:ext cx="640080" cy="640080"/>
          </a:xfrm>
          <a:prstGeom prst="ellipse">
            <a:avLst/>
          </a:prstGeom>
          <a:solidFill>
            <a:schemeClr val="accent5"/>
          </a:solidFill>
          <a:ln w="12700">
            <a:solidFill>
              <a:schemeClr val="bg1"/>
            </a:solidFill>
            <a:prstDash val="solid"/>
          </a:ln>
        </p:spPr>
      </p:sp>
      <p:sp>
        <p:nvSpPr>
          <p:cNvPr id="29" name="Text 27"/>
          <p:cNvSpPr txBox="1"/>
          <p:nvPr/>
        </p:nvSpPr>
        <p:spPr>
          <a:xfrm>
            <a:off x="7680960"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6</a:t>
            </a:r>
            <a:endParaRPr lang="en-US" sz="2200" dirty="0"/>
          </a:p>
        </p:txBody>
      </p:sp>
      <p:sp>
        <p:nvSpPr>
          <p:cNvPr id="30" name="Text 28"/>
          <p:cNvSpPr txBox="1"/>
          <p:nvPr/>
        </p:nvSpPr>
        <p:spPr>
          <a:xfrm>
            <a:off x="7360920" y="2103120"/>
            <a:ext cx="12801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Log</a:t>
            </a:r>
            <a:endParaRPr lang="en-US" sz="1600" dirty="0"/>
          </a:p>
        </p:txBody>
      </p:sp>
      <p:sp>
        <p:nvSpPr>
          <p:cNvPr id="31" name="Text 29"/>
          <p:cNvSpPr txBox="1"/>
          <p:nvPr/>
        </p:nvSpPr>
        <p:spPr>
          <a:xfrm>
            <a:off x="7360920" y="2423160"/>
            <a:ext cx="1280160" cy="7315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requests, errors, blocks</a:t>
            </a:r>
            <a:endParaRPr lang="en-US" sz="1300" dirty="0"/>
          </a:p>
        </p:txBody>
      </p:sp>
      <p:sp>
        <p:nvSpPr>
          <p:cNvPr id="32" name="Text 30"/>
          <p:cNvSpPr txBox="1"/>
          <p:nvPr/>
        </p:nvSpPr>
        <p:spPr>
          <a:xfrm>
            <a:off x="457200" y="3383280"/>
            <a:ext cx="2743200" cy="274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Modular code</a:t>
            </a:r>
            <a:endParaRPr lang="en-US" sz="1600" dirty="0"/>
          </a:p>
        </p:txBody>
      </p:sp>
      <p:sp>
        <p:nvSpPr>
          <p:cNvPr id="33" name="Module config.py"/>
          <p:cNvSpPr/>
          <p:nvPr/>
        </p:nvSpPr>
        <p:spPr>
          <a:xfrm>
            <a:off x="457200" y="3749040"/>
            <a:ext cx="1920240" cy="777240"/>
          </a:xfrm>
          <a:prstGeom prst="roundRect">
            <a:avLst>
              <a:gd name="adj" fmla="val 9412"/>
            </a:avLst>
          </a:prstGeom>
          <a:solidFill>
            <a:srgbClr val="1B2A2F"/>
          </a:solidFill>
          <a:ln w="12700">
            <a:solidFill>
              <a:srgbClr val="1B2A2F"/>
            </a:solidFill>
            <a:prstDash val="solid"/>
          </a:ln>
          <a:effectLst>
            <a:outerShdw sx="100000" sy="100000" kx="0" ky="0" algn="bl" rotWithShape="0" blurRad="76200" dist="25400" dir="5400000">
              <a:srgbClr val="000000">
                <a:alpha val="12000"/>
              </a:srgbClr>
            </a:outerShdw>
          </a:effectLst>
        </p:spPr>
      </p:sp>
      <p:sp>
        <p:nvSpPr>
          <p:cNvPr id="34" name="Text 32"/>
          <p:cNvSpPr txBox="1"/>
          <p:nvPr/>
        </p:nvSpPr>
        <p:spPr>
          <a:xfrm>
            <a:off x="594360" y="3813048"/>
            <a:ext cx="1645920" cy="320040"/>
          </a:xfrm>
          <a:prstGeom prst="rect">
            <a:avLst/>
          </a:prstGeom>
          <a:noFill/>
          <a:ln/>
        </p:spPr>
        <p:txBody>
          <a:bodyPr wrap="square" lIns="0" tIns="0" rIns="0" bIns="0" rtlCol="0" anchor="t"/>
          <a:lstStyle/>
          <a:p>
            <a:pPr indent="0" marL="0">
              <a:buNone/>
            </a:pPr>
            <a:r>
              <a:rPr lang="en-US" sz="1400" b="1" dirty="0">
                <a:solidFill>
                  <a:srgbClr val="9BE0D0"/>
                </a:solidFill>
                <a:latin typeface="Courier New" pitchFamily="34" charset="0"/>
                <a:ea typeface="Courier New" pitchFamily="34" charset="-122"/>
                <a:cs typeface="Courier New" pitchFamily="34" charset="-120"/>
              </a:rPr>
              <a:t>config.py</a:t>
            </a:r>
            <a:endParaRPr lang="en-US" sz="1400" dirty="0"/>
          </a:p>
        </p:txBody>
      </p:sp>
      <p:sp>
        <p:nvSpPr>
          <p:cNvPr id="35" name="Text 33"/>
          <p:cNvSpPr txBox="1"/>
          <p:nvPr/>
        </p:nvSpPr>
        <p:spPr>
          <a:xfrm>
            <a:off x="594360" y="4133088"/>
            <a:ext cx="1645920" cy="274320"/>
          </a:xfrm>
          <a:prstGeom prst="rect">
            <a:avLst/>
          </a:prstGeom>
          <a:noFill/>
          <a:ln/>
        </p:spPr>
        <p:txBody>
          <a:bodyPr wrap="square" lIns="0" tIns="0" rIns="0" bIns="0" rtlCol="0" anchor="t"/>
          <a:lstStyle/>
          <a:p>
            <a:pPr indent="0" marL="0">
              <a:buNone/>
            </a:pPr>
            <a:r>
              <a:rPr lang="en-US" sz="1200" dirty="0">
                <a:solidFill>
                  <a:srgbClr val="CADCDC"/>
                </a:solidFill>
                <a:latin typeface="Calibri" pitchFamily="34" charset="0"/>
                <a:ea typeface="Calibri" pitchFamily="34" charset="-122"/>
                <a:cs typeface="Calibri" pitchFamily="34" charset="-120"/>
              </a:rPr>
              <a:t>settings</a:t>
            </a:r>
            <a:endParaRPr lang="en-US" sz="1200" dirty="0"/>
          </a:p>
        </p:txBody>
      </p:sp>
      <p:sp>
        <p:nvSpPr>
          <p:cNvPr id="36" name="Module fetch.py"/>
          <p:cNvSpPr/>
          <p:nvPr/>
        </p:nvSpPr>
        <p:spPr>
          <a:xfrm>
            <a:off x="2542032" y="3749040"/>
            <a:ext cx="1920240" cy="777240"/>
          </a:xfrm>
          <a:prstGeom prst="roundRect">
            <a:avLst>
              <a:gd name="adj" fmla="val 9412"/>
            </a:avLst>
          </a:prstGeom>
          <a:solidFill>
            <a:srgbClr val="1B2A2F"/>
          </a:solidFill>
          <a:ln w="12700">
            <a:solidFill>
              <a:srgbClr val="1B2A2F"/>
            </a:solidFill>
            <a:prstDash val="solid"/>
          </a:ln>
          <a:effectLst>
            <a:outerShdw sx="100000" sy="100000" kx="0" ky="0" algn="bl" rotWithShape="0" blurRad="76200" dist="25400" dir="5400000">
              <a:srgbClr val="000000">
                <a:alpha val="12000"/>
              </a:srgbClr>
            </a:outerShdw>
          </a:effectLst>
        </p:spPr>
      </p:sp>
      <p:sp>
        <p:nvSpPr>
          <p:cNvPr id="37" name="Text 35"/>
          <p:cNvSpPr txBox="1"/>
          <p:nvPr/>
        </p:nvSpPr>
        <p:spPr>
          <a:xfrm>
            <a:off x="2679192" y="3813048"/>
            <a:ext cx="1645920" cy="320040"/>
          </a:xfrm>
          <a:prstGeom prst="rect">
            <a:avLst/>
          </a:prstGeom>
          <a:noFill/>
          <a:ln/>
        </p:spPr>
        <p:txBody>
          <a:bodyPr wrap="square" lIns="0" tIns="0" rIns="0" bIns="0" rtlCol="0" anchor="t"/>
          <a:lstStyle/>
          <a:p>
            <a:pPr indent="0" marL="0">
              <a:buNone/>
            </a:pPr>
            <a:r>
              <a:rPr lang="en-US" sz="1400" b="1" dirty="0">
                <a:solidFill>
                  <a:srgbClr val="9BE0D0"/>
                </a:solidFill>
                <a:latin typeface="Courier New" pitchFamily="34" charset="0"/>
                <a:ea typeface="Courier New" pitchFamily="34" charset="-122"/>
                <a:cs typeface="Courier New" pitchFamily="34" charset="-120"/>
              </a:rPr>
              <a:t>fetch.py</a:t>
            </a:r>
            <a:endParaRPr lang="en-US" sz="1400" dirty="0"/>
          </a:p>
        </p:txBody>
      </p:sp>
      <p:sp>
        <p:nvSpPr>
          <p:cNvPr id="38" name="Text 36"/>
          <p:cNvSpPr txBox="1"/>
          <p:nvPr/>
        </p:nvSpPr>
        <p:spPr>
          <a:xfrm>
            <a:off x="2679192" y="4133088"/>
            <a:ext cx="1645920" cy="274320"/>
          </a:xfrm>
          <a:prstGeom prst="rect">
            <a:avLst/>
          </a:prstGeom>
          <a:noFill/>
          <a:ln/>
        </p:spPr>
        <p:txBody>
          <a:bodyPr wrap="square" lIns="0" tIns="0" rIns="0" bIns="0" rtlCol="0" anchor="t"/>
          <a:lstStyle/>
          <a:p>
            <a:pPr indent="0" marL="0">
              <a:buNone/>
            </a:pPr>
            <a:r>
              <a:rPr lang="en-US" sz="1200" dirty="0">
                <a:solidFill>
                  <a:srgbClr val="CADCDC"/>
                </a:solidFill>
                <a:latin typeface="Calibri" pitchFamily="34" charset="0"/>
                <a:ea typeface="Calibri" pitchFamily="34" charset="-122"/>
                <a:cs typeface="Calibri" pitchFamily="34" charset="-120"/>
              </a:rPr>
              <a:t>polite HTTP</a:t>
            </a:r>
            <a:endParaRPr lang="en-US" sz="1200" dirty="0"/>
          </a:p>
        </p:txBody>
      </p:sp>
      <p:sp>
        <p:nvSpPr>
          <p:cNvPr id="39" name="Module parse.py"/>
          <p:cNvSpPr/>
          <p:nvPr/>
        </p:nvSpPr>
        <p:spPr>
          <a:xfrm>
            <a:off x="4626864" y="3749040"/>
            <a:ext cx="1920240" cy="777240"/>
          </a:xfrm>
          <a:prstGeom prst="roundRect">
            <a:avLst>
              <a:gd name="adj" fmla="val 9412"/>
            </a:avLst>
          </a:prstGeom>
          <a:solidFill>
            <a:srgbClr val="1B2A2F"/>
          </a:solidFill>
          <a:ln w="12700">
            <a:solidFill>
              <a:srgbClr val="1B2A2F"/>
            </a:solidFill>
            <a:prstDash val="solid"/>
          </a:ln>
          <a:effectLst>
            <a:outerShdw sx="100000" sy="100000" kx="0" ky="0" algn="bl" rotWithShape="0" blurRad="76200" dist="25400" dir="5400000">
              <a:srgbClr val="000000">
                <a:alpha val="12000"/>
              </a:srgbClr>
            </a:outerShdw>
          </a:effectLst>
        </p:spPr>
      </p:sp>
      <p:sp>
        <p:nvSpPr>
          <p:cNvPr id="40" name="Text 38"/>
          <p:cNvSpPr txBox="1"/>
          <p:nvPr/>
        </p:nvSpPr>
        <p:spPr>
          <a:xfrm>
            <a:off x="4764024" y="3813048"/>
            <a:ext cx="1645920" cy="320040"/>
          </a:xfrm>
          <a:prstGeom prst="rect">
            <a:avLst/>
          </a:prstGeom>
          <a:noFill/>
          <a:ln/>
        </p:spPr>
        <p:txBody>
          <a:bodyPr wrap="square" lIns="0" tIns="0" rIns="0" bIns="0" rtlCol="0" anchor="t"/>
          <a:lstStyle/>
          <a:p>
            <a:pPr indent="0" marL="0">
              <a:buNone/>
            </a:pPr>
            <a:r>
              <a:rPr lang="en-US" sz="1400" b="1" dirty="0">
                <a:solidFill>
                  <a:srgbClr val="9BE0D0"/>
                </a:solidFill>
                <a:latin typeface="Courier New" pitchFamily="34" charset="0"/>
                <a:ea typeface="Courier New" pitchFamily="34" charset="-122"/>
                <a:cs typeface="Courier New" pitchFamily="34" charset="-120"/>
              </a:rPr>
              <a:t>parse.py</a:t>
            </a:r>
            <a:endParaRPr lang="en-US" sz="1400" dirty="0"/>
          </a:p>
        </p:txBody>
      </p:sp>
      <p:sp>
        <p:nvSpPr>
          <p:cNvPr id="41" name="Text 39"/>
          <p:cNvSpPr txBox="1"/>
          <p:nvPr/>
        </p:nvSpPr>
        <p:spPr>
          <a:xfrm>
            <a:off x="4764024" y="4133088"/>
            <a:ext cx="1645920" cy="274320"/>
          </a:xfrm>
          <a:prstGeom prst="rect">
            <a:avLst/>
          </a:prstGeom>
          <a:noFill/>
          <a:ln/>
        </p:spPr>
        <p:txBody>
          <a:bodyPr wrap="square" lIns="0" tIns="0" rIns="0" bIns="0" rtlCol="0" anchor="t"/>
          <a:lstStyle/>
          <a:p>
            <a:pPr indent="0" marL="0">
              <a:buNone/>
            </a:pPr>
            <a:r>
              <a:rPr lang="en-US" sz="1200" dirty="0">
                <a:solidFill>
                  <a:srgbClr val="CADCDC"/>
                </a:solidFill>
                <a:latin typeface="Calibri" pitchFamily="34" charset="0"/>
                <a:ea typeface="Calibri" pitchFamily="34" charset="-122"/>
                <a:cs typeface="Calibri" pitchFamily="34" charset="-120"/>
              </a:rPr>
              <a:t>extraction</a:t>
            </a:r>
            <a:endParaRPr lang="en-US" sz="1200" dirty="0"/>
          </a:p>
        </p:txBody>
      </p:sp>
      <p:sp>
        <p:nvSpPr>
          <p:cNvPr id="42" name="Module run.py"/>
          <p:cNvSpPr/>
          <p:nvPr/>
        </p:nvSpPr>
        <p:spPr>
          <a:xfrm>
            <a:off x="6711696" y="3749040"/>
            <a:ext cx="1920240" cy="777240"/>
          </a:xfrm>
          <a:prstGeom prst="roundRect">
            <a:avLst>
              <a:gd name="adj" fmla="val 9412"/>
            </a:avLst>
          </a:prstGeom>
          <a:solidFill>
            <a:srgbClr val="1B2A2F"/>
          </a:solidFill>
          <a:ln w="12700">
            <a:solidFill>
              <a:srgbClr val="1B2A2F"/>
            </a:solidFill>
            <a:prstDash val="solid"/>
          </a:ln>
          <a:effectLst>
            <a:outerShdw sx="100000" sy="100000" kx="0" ky="0" algn="bl" rotWithShape="0" blurRad="76200" dist="25400" dir="5400000">
              <a:srgbClr val="000000">
                <a:alpha val="12000"/>
              </a:srgbClr>
            </a:outerShdw>
          </a:effectLst>
        </p:spPr>
      </p:sp>
      <p:sp>
        <p:nvSpPr>
          <p:cNvPr id="43" name="Text 41"/>
          <p:cNvSpPr txBox="1"/>
          <p:nvPr/>
        </p:nvSpPr>
        <p:spPr>
          <a:xfrm>
            <a:off x="6848856" y="3813048"/>
            <a:ext cx="1645920" cy="320040"/>
          </a:xfrm>
          <a:prstGeom prst="rect">
            <a:avLst/>
          </a:prstGeom>
          <a:noFill/>
          <a:ln/>
        </p:spPr>
        <p:txBody>
          <a:bodyPr wrap="square" lIns="0" tIns="0" rIns="0" bIns="0" rtlCol="0" anchor="t"/>
          <a:lstStyle/>
          <a:p>
            <a:pPr indent="0" marL="0">
              <a:buNone/>
            </a:pPr>
            <a:r>
              <a:rPr lang="en-US" sz="1400" b="1" dirty="0">
                <a:solidFill>
                  <a:srgbClr val="9BE0D0"/>
                </a:solidFill>
                <a:latin typeface="Courier New" pitchFamily="34" charset="0"/>
                <a:ea typeface="Courier New" pitchFamily="34" charset="-122"/>
                <a:cs typeface="Courier New" pitchFamily="34" charset="-120"/>
              </a:rPr>
              <a:t>run.py</a:t>
            </a:r>
            <a:endParaRPr lang="en-US" sz="1400" dirty="0"/>
          </a:p>
        </p:txBody>
      </p:sp>
      <p:sp>
        <p:nvSpPr>
          <p:cNvPr id="44" name="Text 42"/>
          <p:cNvSpPr txBox="1"/>
          <p:nvPr/>
        </p:nvSpPr>
        <p:spPr>
          <a:xfrm>
            <a:off x="6848856" y="4133088"/>
            <a:ext cx="1645920" cy="274320"/>
          </a:xfrm>
          <a:prstGeom prst="rect">
            <a:avLst/>
          </a:prstGeom>
          <a:noFill/>
          <a:ln/>
        </p:spPr>
        <p:txBody>
          <a:bodyPr wrap="square" lIns="0" tIns="0" rIns="0" bIns="0" rtlCol="0" anchor="t"/>
          <a:lstStyle/>
          <a:p>
            <a:pPr indent="0" marL="0">
              <a:buNone/>
            </a:pPr>
            <a:r>
              <a:rPr lang="en-US" sz="1200" dirty="0">
                <a:solidFill>
                  <a:srgbClr val="CADCDC"/>
                </a:solidFill>
                <a:latin typeface="Calibri" pitchFamily="34" charset="0"/>
                <a:ea typeface="Calibri" pitchFamily="34" charset="-122"/>
                <a:cs typeface="Calibri" pitchFamily="34" charset="-120"/>
              </a:rPr>
              <a:t>daily run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Parsing the DOM</a:t>
            </a:r>
            <a:endParaRPr lang="en-US" sz="3200" dirty="0"/>
          </a:p>
        </p:txBody>
      </p:sp>
      <p:sp>
        <p:nvSpPr>
          <p:cNvPr id="3" name="Code panel"/>
          <p:cNvSpPr/>
          <p:nvPr/>
        </p:nvSpPr>
        <p:spPr>
          <a:xfrm>
            <a:off x="457200" y="1188720"/>
            <a:ext cx="4206240" cy="2834640"/>
          </a:xfrm>
          <a:prstGeom prst="roundRect">
            <a:avLst>
              <a:gd name="adj" fmla="val 2581"/>
            </a:avLst>
          </a:prstGeom>
          <a:solidFill>
            <a:srgbClr val="1B2A2F"/>
          </a:solidFill>
          <a:ln w="12700">
            <a:solidFill>
              <a:srgbClr val="1B2A2F"/>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325880"/>
            <a:ext cx="3840480" cy="2560320"/>
          </a:xfrm>
          <a:prstGeom prst="rect">
            <a:avLst/>
          </a:prstGeom>
          <a:noFill/>
          <a:ln/>
        </p:spPr>
        <p:txBody>
          <a:bodyPr wrap="square" lIns="0" tIns="0" rIns="0" bIns="0" rtlCol="0" anchor="ctr"/>
          <a:lstStyle/>
          <a:p>
            <a:pPr indent="0" marL="0">
              <a:buNone/>
            </a:pPr>
            <a:r>
              <a:rPr lang="en-US" sz="1300" dirty="0">
                <a:solidFill>
                  <a:srgbClr val="9BE0D0"/>
                </a:solidFill>
                <a:latin typeface="Courier New" pitchFamily="34" charset="0"/>
                <a:ea typeface="Courier New" pitchFamily="34" charset="-122"/>
                <a:cs typeface="Courier New" pitchFamily="34" charset="-120"/>
              </a:rPr>
              <a:t># find ads by URL pattern</a:t>
            </a:r>
            <a:endParaRPr lang="en-US" sz="1300" dirty="0"/>
          </a:p>
          <a:p>
            <a:pPr indent="0" marL="0">
              <a:buNone/>
            </a:pPr>
            <a:r>
              <a:rPr lang="en-US" sz="1300" dirty="0">
                <a:solidFill>
                  <a:srgbClr val="9BE0D0"/>
                </a:solidFill>
                <a:latin typeface="Courier New" pitchFamily="34" charset="0"/>
                <a:ea typeface="Courier New" pitchFamily="34" charset="-122"/>
                <a:cs typeface="Courier New" pitchFamily="34" charset="-120"/>
              </a:rPr>
              <a:t>/area/category/slug-&lt;ID&gt;.html</a:t>
            </a:r>
            <a:endParaRPr lang="en-US" sz="1300" dirty="0"/>
          </a:p>
          <a:p>
            <a:pPr indent="0" marL="0">
              <a:buNone/>
            </a:pPr>
            <a:endParaRPr lang="en-US" sz="1300" dirty="0"/>
          </a:p>
          <a:p>
            <a:pPr indent="0" marL="0">
              <a:buNone/>
            </a:pPr>
            <a:r>
              <a:rPr lang="en-US" sz="1300" dirty="0">
                <a:solidFill>
                  <a:srgbClr val="9BE0D0"/>
                </a:solidFill>
                <a:latin typeface="Courier New" pitchFamily="34" charset="0"/>
                <a:ea typeface="Courier New" pitchFamily="34" charset="-122"/>
                <a:cs typeface="Courier New" pitchFamily="34" charset="-120"/>
              </a:rPr>
              <a:t># climb to the card, read lines</a:t>
            </a:r>
            <a:endParaRPr lang="en-US" sz="1300" dirty="0"/>
          </a:p>
          <a:p>
            <a:pPr indent="0" marL="0">
              <a:buNone/>
            </a:pPr>
            <a:r>
              <a:rPr lang="en-US" sz="1300" dirty="0">
                <a:solidFill>
                  <a:srgbClr val="9BE0D0"/>
                </a:solidFill>
                <a:latin typeface="Courier New" pitchFamily="34" charset="0"/>
                <a:ea typeface="Courier New" pitchFamily="34" charset="-122"/>
                <a:cs typeface="Courier New" pitchFamily="34" charset="-120"/>
              </a:rPr>
              <a:t>"USh 65,000"  → price</a:t>
            </a:r>
            <a:endParaRPr lang="en-US" sz="1300" dirty="0"/>
          </a:p>
          <a:p>
            <a:pPr indent="0" marL="0">
              <a:buNone/>
            </a:pPr>
            <a:r>
              <a:rPr lang="en-US" sz="1300" dirty="0">
                <a:solidFill>
                  <a:srgbClr val="9BE0D0"/>
                </a:solidFill>
                <a:latin typeface="Courier New" pitchFamily="34" charset="0"/>
                <a:ea typeface="Courier New" pitchFamily="34" charset="-122"/>
                <a:cs typeface="Courier New" pitchFamily="34" charset="-120"/>
              </a:rPr>
              <a:t>"Brand New"   → condition</a:t>
            </a:r>
            <a:endParaRPr lang="en-US" sz="1300" dirty="0"/>
          </a:p>
          <a:p>
            <a:pPr indent="0" marL="0">
              <a:buNone/>
            </a:pPr>
            <a:r>
              <a:rPr lang="en-US" sz="1300" dirty="0">
                <a:solidFill>
                  <a:srgbClr val="9BE0D0"/>
                </a:solidFill>
                <a:latin typeface="Courier New" pitchFamily="34" charset="0"/>
                <a:ea typeface="Courier New" pitchFamily="34" charset="-122"/>
                <a:cs typeface="Courier New" pitchFamily="34" charset="-120"/>
              </a:rPr>
              <a:t>"Kampala, …"  → location</a:t>
            </a:r>
            <a:endParaRPr lang="en-US" sz="1300" dirty="0"/>
          </a:p>
          <a:p>
            <a:pPr indent="0" marL="0">
              <a:buNone/>
            </a:pPr>
            <a:endParaRPr lang="en-US" sz="1300" dirty="0"/>
          </a:p>
          <a:p>
            <a:pPr indent="0" marL="0">
              <a:buNone/>
            </a:pPr>
            <a:r>
              <a:rPr lang="en-US" sz="1300" dirty="0">
                <a:solidFill>
                  <a:srgbClr val="9BE0D0"/>
                </a:solidFill>
                <a:latin typeface="Courier New" pitchFamily="34" charset="0"/>
                <a:ea typeface="Courier New" pitchFamily="34" charset="-122"/>
                <a:cs typeface="Courier New" pitchFamily="34" charset="-120"/>
              </a:rPr>
              <a:t># missing field → None</a:t>
            </a:r>
            <a:endParaRPr lang="en-US" sz="1300" dirty="0"/>
          </a:p>
        </p:txBody>
      </p:sp>
      <p:sp>
        <p:nvSpPr>
          <p:cNvPr id="5" name="Text 3"/>
          <p:cNvSpPr txBox="1"/>
          <p:nvPr/>
        </p:nvSpPr>
        <p:spPr>
          <a:xfrm>
            <a:off x="4937760" y="1188720"/>
            <a:ext cx="37490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URL-pattern matching</a:t>
            </a:r>
            <a:endParaRPr lang="en-US" sz="1500" dirty="0"/>
          </a:p>
        </p:txBody>
      </p:sp>
      <p:sp>
        <p:nvSpPr>
          <p:cNvPr id="6" name="Text 4"/>
          <p:cNvSpPr txBox="1"/>
          <p:nvPr/>
        </p:nvSpPr>
        <p:spPr>
          <a:xfrm>
            <a:off x="4937760" y="1444752"/>
            <a:ext cx="374904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more robust than fragile CSS classes</a:t>
            </a:r>
            <a:endParaRPr lang="en-US" sz="1300" dirty="0"/>
          </a:p>
        </p:txBody>
      </p:sp>
      <p:sp>
        <p:nvSpPr>
          <p:cNvPr id="7" name="Text 5"/>
          <p:cNvSpPr txBox="1"/>
          <p:nvPr/>
        </p:nvSpPr>
        <p:spPr>
          <a:xfrm>
            <a:off x="4937760" y="1828800"/>
            <a:ext cx="37490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Defensive parsing</a:t>
            </a:r>
            <a:endParaRPr lang="en-US" sz="1500" dirty="0"/>
          </a:p>
        </p:txBody>
      </p:sp>
      <p:sp>
        <p:nvSpPr>
          <p:cNvPr id="8" name="Text 6"/>
          <p:cNvSpPr txBox="1"/>
          <p:nvPr/>
        </p:nvSpPr>
        <p:spPr>
          <a:xfrm>
            <a:off x="4937760" y="2084832"/>
            <a:ext cx="374904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missing fields stay None, never invented</a:t>
            </a:r>
            <a:endParaRPr lang="en-US" sz="1300" dirty="0"/>
          </a:p>
        </p:txBody>
      </p:sp>
      <p:sp>
        <p:nvSpPr>
          <p:cNvPr id="9" name="Text 7"/>
          <p:cNvSpPr txBox="1"/>
          <p:nvPr/>
        </p:nvSpPr>
        <p:spPr>
          <a:xfrm>
            <a:off x="4937760" y="2468880"/>
            <a:ext cx="37490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Discount badges</a:t>
            </a:r>
            <a:endParaRPr lang="en-US" sz="1500" dirty="0"/>
          </a:p>
        </p:txBody>
      </p:sp>
      <p:sp>
        <p:nvSpPr>
          <p:cNvPr id="10" name="Text 8"/>
          <p:cNvSpPr txBox="1"/>
          <p:nvPr/>
        </p:nvSpPr>
        <p:spPr>
          <a:xfrm>
            <a:off x="4937760" y="2724912"/>
            <a:ext cx="374904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old price and % caught by a separate pattern</a:t>
            </a:r>
            <a:endParaRPr lang="en-US" sz="1300" dirty="0"/>
          </a:p>
        </p:txBody>
      </p:sp>
      <p:sp>
        <p:nvSpPr>
          <p:cNvPr id="11" name="Text 9"/>
          <p:cNvSpPr txBox="1"/>
          <p:nvPr/>
        </p:nvSpPr>
        <p:spPr>
          <a:xfrm>
            <a:off x="4937760" y="3108960"/>
            <a:ext cx="37490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Rank fix</a:t>
            </a:r>
            <a:endParaRPr lang="en-US" sz="1500" dirty="0"/>
          </a:p>
        </p:txBody>
      </p:sp>
      <p:sp>
        <p:nvSpPr>
          <p:cNvPr id="12" name="Text 10"/>
          <p:cNvSpPr txBox="1"/>
          <p:nvPr/>
        </p:nvSpPr>
        <p:spPr>
          <a:xfrm>
            <a:off x="4937760" y="3364992"/>
            <a:ext cx="374904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DOM is column-by-column, so sort by indexPosition</a:t>
            </a:r>
            <a:endParaRPr lang="en-US" sz="1300" dirty="0"/>
          </a:p>
        </p:txBody>
      </p:sp>
      <p:sp>
        <p:nvSpPr>
          <p:cNvPr id="13" name="Text 11"/>
          <p:cNvSpPr txBox="1"/>
          <p:nvPr/>
        </p:nvSpPr>
        <p:spPr>
          <a:xfrm>
            <a:off x="4937760" y="3749040"/>
            <a:ext cx="37490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No duplicates</a:t>
            </a:r>
            <a:endParaRPr lang="en-US" sz="1500" dirty="0"/>
          </a:p>
        </p:txBody>
      </p:sp>
      <p:sp>
        <p:nvSpPr>
          <p:cNvPr id="14" name="Text 12"/>
          <p:cNvSpPr txBox="1"/>
          <p:nvPr/>
        </p:nvSpPr>
        <p:spPr>
          <a:xfrm>
            <a:off x="4937760" y="4005072"/>
            <a:ext cx="374904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de-duplicated by listing ID</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Storage &amp; cleaning</a:t>
            </a:r>
            <a:endParaRPr lang="en-US" sz="3200" dirty="0"/>
          </a:p>
        </p:txBody>
      </p:sp>
      <p:sp>
        <p:nvSpPr>
          <p:cNvPr id="3" name="Layer card 1"/>
          <p:cNvSpPr/>
          <p:nvPr/>
        </p:nvSpPr>
        <p:spPr>
          <a:xfrm>
            <a:off x="457200" y="1280160"/>
            <a:ext cx="2560320" cy="283464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Layer tile 1"/>
          <p:cNvSpPr/>
          <p:nvPr/>
        </p:nvSpPr>
        <p:spPr>
          <a:xfrm>
            <a:off x="640080" y="1463040"/>
            <a:ext cx="457200" cy="457200"/>
          </a:xfrm>
          <a:prstGeom prst="rect">
            <a:avLst/>
          </a:prstGeom>
          <a:solidFill>
            <a:schemeClr val="accent5"/>
          </a:solidFill>
          <a:ln w="12700">
            <a:solidFill>
              <a:schemeClr val="accent5"/>
            </a:solidFill>
            <a:prstDash val="solid"/>
          </a:ln>
        </p:spPr>
      </p:sp>
      <p:sp>
        <p:nvSpPr>
          <p:cNvPr id="5" name="Text 3"/>
          <p:cNvSpPr txBox="1"/>
          <p:nvPr/>
        </p:nvSpPr>
        <p:spPr>
          <a:xfrm>
            <a:off x="64008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640080" y="2057400"/>
            <a:ext cx="219456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Raw layer</a:t>
            </a:r>
            <a:endParaRPr lang="en-US" sz="1800" dirty="0"/>
          </a:p>
        </p:txBody>
      </p:sp>
      <p:sp>
        <p:nvSpPr>
          <p:cNvPr id="7" name="Text 5"/>
          <p:cNvSpPr txBox="1"/>
          <p:nvPr/>
        </p:nvSpPr>
        <p:spPr>
          <a:xfrm>
            <a:off x="640080" y="2468880"/>
            <a:ext cx="2194560" cy="36576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One JSON file per run</a:t>
            </a:r>
            <a:endParaRPr lang="en-US" sz="1400" dirty="0"/>
          </a:p>
        </p:txBody>
      </p:sp>
      <p:sp>
        <p:nvSpPr>
          <p:cNvPr id="8" name="Text 6"/>
          <p:cNvSpPr txBox="1"/>
          <p:nvPr/>
        </p:nvSpPr>
        <p:spPr>
          <a:xfrm>
            <a:off x="640080" y="2880360"/>
            <a:ext cx="21945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Never modified, audit evidence</a:t>
            </a:r>
            <a:endParaRPr lang="en-US" sz="1400" dirty="0"/>
          </a:p>
        </p:txBody>
      </p:sp>
      <p:sp>
        <p:nvSpPr>
          <p:cNvPr id="9" name="Flow arrow 1"/>
          <p:cNvSpPr/>
          <p:nvPr/>
        </p:nvSpPr>
        <p:spPr>
          <a:xfrm>
            <a:off x="3035808" y="2697480"/>
            <a:ext cx="274320" cy="0"/>
          </a:xfrm>
          <a:prstGeom prst="line">
            <a:avLst/>
          </a:prstGeom>
          <a:noFill/>
          <a:ln w="25400">
            <a:solidFill>
              <a:schemeClr val="accent6"/>
            </a:solidFill>
            <a:prstDash val="solid"/>
            <a:tailEnd type="triangle"/>
          </a:ln>
        </p:spPr>
      </p:sp>
      <p:sp>
        <p:nvSpPr>
          <p:cNvPr id="10" name="Layer card 2"/>
          <p:cNvSpPr/>
          <p:nvPr/>
        </p:nvSpPr>
        <p:spPr>
          <a:xfrm>
            <a:off x="3337560" y="1280160"/>
            <a:ext cx="2560320" cy="283464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Layer tile 2"/>
          <p:cNvSpPr/>
          <p:nvPr/>
        </p:nvSpPr>
        <p:spPr>
          <a:xfrm>
            <a:off x="3520440" y="1463040"/>
            <a:ext cx="457200" cy="457200"/>
          </a:xfrm>
          <a:prstGeom prst="rect">
            <a:avLst/>
          </a:prstGeom>
          <a:solidFill>
            <a:schemeClr val="accent1"/>
          </a:solidFill>
          <a:ln w="12700">
            <a:solidFill>
              <a:schemeClr val="accent1"/>
            </a:solidFill>
            <a:prstDash val="solid"/>
          </a:ln>
        </p:spPr>
      </p:sp>
      <p:sp>
        <p:nvSpPr>
          <p:cNvPr id="12" name="Text 10"/>
          <p:cNvSpPr txBox="1"/>
          <p:nvPr/>
        </p:nvSpPr>
        <p:spPr>
          <a:xfrm>
            <a:off x="352044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3520440" y="2057400"/>
            <a:ext cx="219456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Cleaning · pandas</a:t>
            </a:r>
            <a:endParaRPr lang="en-US" sz="1800" dirty="0"/>
          </a:p>
        </p:txBody>
      </p:sp>
      <p:sp>
        <p:nvSpPr>
          <p:cNvPr id="14" name="Text 12"/>
          <p:cNvSpPr txBox="1"/>
          <p:nvPr/>
        </p:nvSpPr>
        <p:spPr>
          <a:xfrm>
            <a:off x="3520440" y="2468880"/>
            <a:ext cx="219456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Price text → numeric UGX</a:t>
            </a:r>
            <a:endParaRPr lang="en-US" sz="1400" dirty="0"/>
          </a:p>
        </p:txBody>
      </p:sp>
      <p:sp>
        <p:nvSpPr>
          <p:cNvPr id="15" name="Text 13"/>
          <p:cNvSpPr txBox="1"/>
          <p:nvPr/>
        </p:nvSpPr>
        <p:spPr>
          <a:xfrm>
            <a:off x="3520440" y="2880360"/>
            <a:ext cx="21945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Standardise labels ("Brand new" vs "Brand New"), drop duplicates, flag prices under UGX 10,000</a:t>
            </a:r>
            <a:endParaRPr lang="en-US" sz="1400" dirty="0"/>
          </a:p>
        </p:txBody>
      </p:sp>
      <p:sp>
        <p:nvSpPr>
          <p:cNvPr id="16" name="Flow arrow 2"/>
          <p:cNvSpPr/>
          <p:nvPr/>
        </p:nvSpPr>
        <p:spPr>
          <a:xfrm>
            <a:off x="5916168" y="2697480"/>
            <a:ext cx="274320" cy="0"/>
          </a:xfrm>
          <a:prstGeom prst="line">
            <a:avLst/>
          </a:prstGeom>
          <a:noFill/>
          <a:ln w="25400">
            <a:solidFill>
              <a:schemeClr val="accent6"/>
            </a:solidFill>
            <a:prstDash val="solid"/>
            <a:tailEnd type="triangle"/>
          </a:ln>
        </p:spPr>
      </p:sp>
      <p:sp>
        <p:nvSpPr>
          <p:cNvPr id="17" name="Layer card 3"/>
          <p:cNvSpPr/>
          <p:nvPr/>
        </p:nvSpPr>
        <p:spPr>
          <a:xfrm>
            <a:off x="6217920" y="1280160"/>
            <a:ext cx="2560320" cy="283464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Layer tile 3"/>
          <p:cNvSpPr/>
          <p:nvPr/>
        </p:nvSpPr>
        <p:spPr>
          <a:xfrm>
            <a:off x="6400800" y="1463040"/>
            <a:ext cx="457200" cy="457200"/>
          </a:xfrm>
          <a:prstGeom prst="rect">
            <a:avLst/>
          </a:prstGeom>
          <a:solidFill>
            <a:schemeClr val="accent3"/>
          </a:solidFill>
          <a:ln w="12700">
            <a:solidFill>
              <a:schemeClr val="accent3"/>
            </a:solidFill>
            <a:prstDash val="solid"/>
          </a:ln>
        </p:spPr>
      </p:sp>
      <p:sp>
        <p:nvSpPr>
          <p:cNvPr id="19" name="Text 17"/>
          <p:cNvSpPr txBox="1"/>
          <p:nvPr/>
        </p:nvSpPr>
        <p:spPr>
          <a:xfrm>
            <a:off x="640080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6400800" y="2057400"/>
            <a:ext cx="219456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SQLite</a:t>
            </a:r>
            <a:endParaRPr lang="en-US" sz="1800" dirty="0"/>
          </a:p>
        </p:txBody>
      </p:sp>
      <p:sp>
        <p:nvSpPr>
          <p:cNvPr id="21" name="Text 19"/>
          <p:cNvSpPr txBox="1"/>
          <p:nvPr/>
        </p:nvSpPr>
        <p:spPr>
          <a:xfrm>
            <a:off x="6400800" y="2468880"/>
            <a:ext cx="2194560" cy="36576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listings + collection logs</a:t>
            </a:r>
            <a:endParaRPr lang="en-US" sz="1400" dirty="0"/>
          </a:p>
        </p:txBody>
      </p:sp>
      <p:sp>
        <p:nvSpPr>
          <p:cNvPr id="22" name="Text 20"/>
          <p:cNvSpPr txBox="1"/>
          <p:nvPr/>
        </p:nvSpPr>
        <p:spPr>
          <a:xfrm>
            <a:off x="6400800" y="2880360"/>
            <a:ext cx="21945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Cleaned data stored apart from raw files</a:t>
            </a:r>
            <a:endParaRPr lang="en-US" sz="1400" dirty="0"/>
          </a:p>
        </p:txBody>
      </p:sp>
      <p:sp>
        <p:nvSpPr>
          <p:cNvPr id="23" name="Text 21"/>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Suspicious values are flagged, not silently deleted: an extreme price is not automatically an error.</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Ethics &amp; legal considerations</a:t>
            </a:r>
            <a:endParaRPr lang="en-US" sz="3200" dirty="0"/>
          </a:p>
        </p:txBody>
      </p:sp>
      <p:sp>
        <p:nvSpPr>
          <p:cNvPr id="3" name="Ethics card 1"/>
          <p:cNvSpPr/>
          <p:nvPr/>
        </p:nvSpPr>
        <p:spPr>
          <a:xfrm>
            <a:off x="457200" y="11887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heck dot 1"/>
          <p:cNvSpPr/>
          <p:nvPr/>
        </p:nvSpPr>
        <p:spPr>
          <a:xfrm>
            <a:off x="640080" y="1353312"/>
            <a:ext cx="329184" cy="329184"/>
          </a:xfrm>
          <a:prstGeom prst="ellipse">
            <a:avLst/>
          </a:prstGeom>
          <a:solidFill>
            <a:schemeClr val="accent3"/>
          </a:solidFill>
          <a:ln w="12700">
            <a:solidFill>
              <a:schemeClr val="accent3"/>
            </a:solidFill>
            <a:prstDash val="solid"/>
          </a:ln>
        </p:spPr>
      </p:sp>
      <p:sp>
        <p:nvSpPr>
          <p:cNvPr id="5" name="Text 3"/>
          <p:cNvSpPr txBox="1"/>
          <p:nvPr/>
        </p:nvSpPr>
        <p:spPr>
          <a:xfrm>
            <a:off x="640080" y="135331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097280" y="1353312"/>
            <a:ext cx="1920240" cy="329184"/>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robots.txt first</a:t>
            </a:r>
            <a:endParaRPr lang="en-US" sz="1600" dirty="0"/>
          </a:p>
        </p:txBody>
      </p:sp>
      <p:sp>
        <p:nvSpPr>
          <p:cNvPr id="7" name="Text 5"/>
          <p:cNvSpPr txBox="1"/>
          <p:nvPr/>
        </p:nvSpPr>
        <p:spPr>
          <a:xfrm>
            <a:off x="640080" y="1828800"/>
            <a:ext cx="23317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Fetched and checked before every URL; dated copy saved</a:t>
            </a:r>
            <a:endParaRPr lang="en-US" sz="1400" dirty="0"/>
          </a:p>
        </p:txBody>
      </p:sp>
      <p:sp>
        <p:nvSpPr>
          <p:cNvPr id="8" name="Ethics card 2"/>
          <p:cNvSpPr/>
          <p:nvPr/>
        </p:nvSpPr>
        <p:spPr>
          <a:xfrm>
            <a:off x="3246120" y="11887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Check dot 2"/>
          <p:cNvSpPr/>
          <p:nvPr/>
        </p:nvSpPr>
        <p:spPr>
          <a:xfrm>
            <a:off x="3429000" y="1353312"/>
            <a:ext cx="329184" cy="329184"/>
          </a:xfrm>
          <a:prstGeom prst="ellipse">
            <a:avLst/>
          </a:prstGeom>
          <a:solidFill>
            <a:schemeClr val="accent3"/>
          </a:solidFill>
          <a:ln w="12700">
            <a:solidFill>
              <a:schemeClr val="accent3"/>
            </a:solidFill>
            <a:prstDash val="solid"/>
          </a:ln>
        </p:spPr>
      </p:sp>
      <p:sp>
        <p:nvSpPr>
          <p:cNvPr id="10" name="Text 8"/>
          <p:cNvSpPr txBox="1"/>
          <p:nvPr/>
        </p:nvSpPr>
        <p:spPr>
          <a:xfrm>
            <a:off x="3429000" y="135331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3886200" y="1353312"/>
            <a:ext cx="1920240" cy="329184"/>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Go slowly</a:t>
            </a:r>
            <a:endParaRPr lang="en-US" sz="1600" dirty="0"/>
          </a:p>
        </p:txBody>
      </p:sp>
      <p:sp>
        <p:nvSpPr>
          <p:cNvPr id="12" name="Text 10"/>
          <p:cNvSpPr txBox="1"/>
          <p:nvPr/>
        </p:nvSpPr>
        <p:spPr>
          <a:xfrm>
            <a:off x="3429000" y="1828800"/>
            <a:ext cx="23317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2–5 s random delay; cap 950 requests; we used 27–28</a:t>
            </a:r>
            <a:endParaRPr lang="en-US" sz="1400" dirty="0"/>
          </a:p>
        </p:txBody>
      </p:sp>
      <p:sp>
        <p:nvSpPr>
          <p:cNvPr id="13" name="Ethics card 3"/>
          <p:cNvSpPr/>
          <p:nvPr/>
        </p:nvSpPr>
        <p:spPr>
          <a:xfrm>
            <a:off x="6035040" y="11887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Check dot 3"/>
          <p:cNvSpPr/>
          <p:nvPr/>
        </p:nvSpPr>
        <p:spPr>
          <a:xfrm>
            <a:off x="6217920" y="1353312"/>
            <a:ext cx="329184" cy="329184"/>
          </a:xfrm>
          <a:prstGeom prst="ellipse">
            <a:avLst/>
          </a:prstGeom>
          <a:solidFill>
            <a:schemeClr val="accent3"/>
          </a:solidFill>
          <a:ln w="12700">
            <a:solidFill>
              <a:schemeClr val="accent3"/>
            </a:solidFill>
            <a:prstDash val="solid"/>
          </a:ln>
        </p:spPr>
      </p:sp>
      <p:sp>
        <p:nvSpPr>
          <p:cNvPr id="15" name="Text 13"/>
          <p:cNvSpPr txBox="1"/>
          <p:nvPr/>
        </p:nvSpPr>
        <p:spPr>
          <a:xfrm>
            <a:off x="6217920" y="135331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16" name="Text 14"/>
          <p:cNvSpPr txBox="1"/>
          <p:nvPr/>
        </p:nvSpPr>
        <p:spPr>
          <a:xfrm>
            <a:off x="6675120" y="1353312"/>
            <a:ext cx="1920240" cy="329184"/>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Identify ourselves</a:t>
            </a:r>
            <a:endParaRPr lang="en-US" sz="1600" dirty="0"/>
          </a:p>
        </p:txBody>
      </p:sp>
      <p:sp>
        <p:nvSpPr>
          <p:cNvPr id="17" name="Text 15"/>
          <p:cNvSpPr txBox="1"/>
          <p:nvPr/>
        </p:nvSpPr>
        <p:spPr>
          <a:xfrm>
            <a:off x="6217920" y="1828800"/>
            <a:ext cx="23317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User-Agent names the course and a contact email</a:t>
            </a:r>
            <a:endParaRPr lang="en-US" sz="1400" dirty="0"/>
          </a:p>
        </p:txBody>
      </p:sp>
      <p:sp>
        <p:nvSpPr>
          <p:cNvPr id="18" name="Ethics card 4"/>
          <p:cNvSpPr/>
          <p:nvPr/>
        </p:nvSpPr>
        <p:spPr>
          <a:xfrm>
            <a:off x="457200" y="283464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Check dot 4"/>
          <p:cNvSpPr/>
          <p:nvPr/>
        </p:nvSpPr>
        <p:spPr>
          <a:xfrm>
            <a:off x="640080" y="2999232"/>
            <a:ext cx="329184" cy="329184"/>
          </a:xfrm>
          <a:prstGeom prst="ellipse">
            <a:avLst/>
          </a:prstGeom>
          <a:solidFill>
            <a:schemeClr val="accent3"/>
          </a:solidFill>
          <a:ln w="12700">
            <a:solidFill>
              <a:schemeClr val="accent3"/>
            </a:solidFill>
            <a:prstDash val="solid"/>
          </a:ln>
        </p:spPr>
      </p:sp>
      <p:sp>
        <p:nvSpPr>
          <p:cNvPr id="20" name="Text 18"/>
          <p:cNvSpPr txBox="1"/>
          <p:nvPr/>
        </p:nvSpPr>
        <p:spPr>
          <a:xfrm>
            <a:off x="640080" y="29992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1097280" y="2999232"/>
            <a:ext cx="1920240" cy="329184"/>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Privacy</a:t>
            </a:r>
            <a:endParaRPr lang="en-US" sz="1600" dirty="0"/>
          </a:p>
        </p:txBody>
      </p:sp>
      <p:sp>
        <p:nvSpPr>
          <p:cNvPr id="22" name="Text 20"/>
          <p:cNvSpPr txBox="1"/>
          <p:nvPr/>
        </p:nvSpPr>
        <p:spPr>
          <a:xfrm>
            <a:off x="640080" y="3474720"/>
            <a:ext cx="23317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 seller names, phone numbers or logins</a:t>
            </a:r>
            <a:endParaRPr lang="en-US" sz="1400" dirty="0"/>
          </a:p>
        </p:txBody>
      </p:sp>
      <p:sp>
        <p:nvSpPr>
          <p:cNvPr id="23" name="Ethics card 5"/>
          <p:cNvSpPr/>
          <p:nvPr/>
        </p:nvSpPr>
        <p:spPr>
          <a:xfrm>
            <a:off x="3246120" y="283464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Check dot 5"/>
          <p:cNvSpPr/>
          <p:nvPr/>
        </p:nvSpPr>
        <p:spPr>
          <a:xfrm>
            <a:off x="3429000" y="2999232"/>
            <a:ext cx="329184" cy="329184"/>
          </a:xfrm>
          <a:prstGeom prst="ellipse">
            <a:avLst/>
          </a:prstGeom>
          <a:solidFill>
            <a:schemeClr val="accent3"/>
          </a:solidFill>
          <a:ln w="12700">
            <a:solidFill>
              <a:schemeClr val="accent3"/>
            </a:solidFill>
            <a:prstDash val="solid"/>
          </a:ln>
        </p:spPr>
      </p:sp>
      <p:sp>
        <p:nvSpPr>
          <p:cNvPr id="25" name="Text 23"/>
          <p:cNvSpPr txBox="1"/>
          <p:nvPr/>
        </p:nvSpPr>
        <p:spPr>
          <a:xfrm>
            <a:off x="3429000" y="29992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3886200" y="2999232"/>
            <a:ext cx="1920240" cy="329184"/>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Stop on block</a:t>
            </a:r>
            <a:endParaRPr lang="en-US" sz="1600" dirty="0"/>
          </a:p>
        </p:txBody>
      </p:sp>
      <p:sp>
        <p:nvSpPr>
          <p:cNvPr id="27" name="Text 25"/>
          <p:cNvSpPr txBox="1"/>
          <p:nvPr/>
        </p:nvSpPr>
        <p:spPr>
          <a:xfrm>
            <a:off x="3429000" y="3474720"/>
            <a:ext cx="23317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403 / 429 / CAPTCHA: stop and document, never bypass</a:t>
            </a:r>
            <a:endParaRPr lang="en-US" sz="1400" dirty="0"/>
          </a:p>
        </p:txBody>
      </p:sp>
      <p:sp>
        <p:nvSpPr>
          <p:cNvPr id="28" name="Ethics card 6"/>
          <p:cNvSpPr/>
          <p:nvPr/>
        </p:nvSpPr>
        <p:spPr>
          <a:xfrm>
            <a:off x="6035040" y="283464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Check dot 6"/>
          <p:cNvSpPr/>
          <p:nvPr/>
        </p:nvSpPr>
        <p:spPr>
          <a:xfrm>
            <a:off x="6217920" y="2999232"/>
            <a:ext cx="329184" cy="329184"/>
          </a:xfrm>
          <a:prstGeom prst="ellipse">
            <a:avLst/>
          </a:prstGeom>
          <a:solidFill>
            <a:schemeClr val="accent3"/>
          </a:solidFill>
          <a:ln w="12700">
            <a:solidFill>
              <a:schemeClr val="accent3"/>
            </a:solidFill>
            <a:prstDash val="solid"/>
          </a:ln>
        </p:spPr>
      </p:sp>
      <p:sp>
        <p:nvSpPr>
          <p:cNvPr id="30" name="Text 28"/>
          <p:cNvSpPr txBox="1"/>
          <p:nvPr/>
        </p:nvSpPr>
        <p:spPr>
          <a:xfrm>
            <a:off x="6217920" y="29992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675120" y="2999232"/>
            <a:ext cx="1920240" cy="329184"/>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Coursework only</a:t>
            </a:r>
            <a:endParaRPr lang="en-US" sz="1600" dirty="0"/>
          </a:p>
        </p:txBody>
      </p:sp>
      <p:sp>
        <p:nvSpPr>
          <p:cNvPr id="32" name="Text 30"/>
          <p:cNvSpPr txBox="1"/>
          <p:nvPr/>
        </p:nvSpPr>
        <p:spPr>
          <a:xfrm>
            <a:off x="6217920" y="3474720"/>
            <a:ext cx="23317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Data is not published or resold</a:t>
            </a:r>
            <a:endParaRPr lang="en-US" sz="1400" dirty="0"/>
          </a:p>
        </p:txBody>
      </p:sp>
      <p:sp>
        <p:nvSpPr>
          <p:cNvPr id="33" name="Text 31"/>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Built into the code, not just stated in a report.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Case study: Jiji Uganda</a:t>
            </a:r>
            <a:endParaRPr lang="en-US" sz="3200" dirty="0"/>
          </a:p>
        </p:txBody>
      </p:sp>
      <p:sp>
        <p:nvSpPr>
          <p:cNvPr id="3" name="KPI card 1"/>
          <p:cNvSpPr/>
          <p:nvPr/>
        </p:nvSpPr>
        <p:spPr>
          <a:xfrm>
            <a:off x="457200" y="1188720"/>
            <a:ext cx="237744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188720"/>
            <a:ext cx="128016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3,482</a:t>
            </a:r>
            <a:endParaRPr lang="en-US" sz="2800" dirty="0"/>
          </a:p>
        </p:txBody>
      </p:sp>
      <p:sp>
        <p:nvSpPr>
          <p:cNvPr id="5" name="Text 3"/>
          <p:cNvSpPr txBox="1"/>
          <p:nvPr/>
        </p:nvSpPr>
        <p:spPr>
          <a:xfrm>
            <a:off x="1783080" y="1188720"/>
            <a:ext cx="1005840" cy="9144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listings collected</a:t>
            </a:r>
            <a:endParaRPr lang="en-US" sz="1200" dirty="0"/>
          </a:p>
        </p:txBody>
      </p:sp>
      <p:sp>
        <p:nvSpPr>
          <p:cNvPr id="6" name="KPI card 2"/>
          <p:cNvSpPr/>
          <p:nvPr/>
        </p:nvSpPr>
        <p:spPr>
          <a:xfrm>
            <a:off x="457200" y="2240280"/>
            <a:ext cx="237744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594360" y="2240280"/>
            <a:ext cx="128016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a:t>
            </a:r>
            <a:endParaRPr lang="en-US" sz="2800" dirty="0"/>
          </a:p>
        </p:txBody>
      </p:sp>
      <p:sp>
        <p:nvSpPr>
          <p:cNvPr id="8" name="Text 6"/>
          <p:cNvSpPr txBox="1"/>
          <p:nvPr/>
        </p:nvSpPr>
        <p:spPr>
          <a:xfrm>
            <a:off x="1783080" y="2240280"/>
            <a:ext cx="1005840" cy="9144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blocks or network errors</a:t>
            </a:r>
            <a:endParaRPr lang="en-US" sz="1200" dirty="0"/>
          </a:p>
        </p:txBody>
      </p:sp>
      <p:sp>
        <p:nvSpPr>
          <p:cNvPr id="9" name="KPI card 3"/>
          <p:cNvSpPr/>
          <p:nvPr/>
        </p:nvSpPr>
        <p:spPr>
          <a:xfrm>
            <a:off x="457200" y="3291840"/>
            <a:ext cx="237744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594360" y="3291840"/>
            <a:ext cx="128016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27–28</a:t>
            </a:r>
            <a:endParaRPr lang="en-US" sz="2800" dirty="0"/>
          </a:p>
        </p:txBody>
      </p:sp>
      <p:sp>
        <p:nvSpPr>
          <p:cNvPr id="11" name="Text 9"/>
          <p:cNvSpPr txBox="1"/>
          <p:nvPr/>
        </p:nvSpPr>
        <p:spPr>
          <a:xfrm>
            <a:off x="1783080" y="3291840"/>
            <a:ext cx="1005840" cy="9144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requests per run</a:t>
            </a:r>
            <a:endParaRPr lang="en-US" sz="1200" dirty="0"/>
          </a:p>
        </p:txBody>
      </p:sp>
      <p:graphicFrame>
        <p:nvGraphicFramePr>
          <p:cNvPr id="12" name="Listings per run chart" descr=""/>
          <p:cNvGraphicFramePr/>
          <p:nvPr/>
        </p:nvGraphicFramePr>
        <p:xfrm>
          <a:off x="3108960" y="1097280"/>
          <a:ext cx="5577840" cy="315468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300" i="1" dirty="0">
                <a:solidFill>
                  <a:schemeClr val="tx2"/>
                </a:solidFill>
                <a:latin typeface="Calibri" pitchFamily="34" charset="0"/>
                <a:ea typeface="Calibri" pitchFamily="34" charset="-122"/>
                <a:cs typeface="Calibri" pitchFamily="34" charset="-120"/>
              </a:rPr>
              <a:t>Runs 5–6 fell short of 600 because phone and tablet pages ran out of ads (page 8 returned 404). Latest run: 88% Brand New, 7% Refurbished, 6% Used.</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Challenges &amp; limitations</a:t>
            </a:r>
            <a:endParaRPr lang="en-US" sz="3200" dirty="0"/>
          </a:p>
        </p:txBody>
      </p:sp>
      <p:sp>
        <p:nvSpPr>
          <p:cNvPr id="3" name="Column card Challenges"/>
          <p:cNvSpPr/>
          <p:nvPr/>
        </p:nvSpPr>
        <p:spPr>
          <a:xfrm>
            <a:off x="457200" y="1188720"/>
            <a:ext cx="2651760" cy="320040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olumn dot Challenges"/>
          <p:cNvSpPr/>
          <p:nvPr/>
        </p:nvSpPr>
        <p:spPr>
          <a:xfrm>
            <a:off x="640080" y="1371600"/>
            <a:ext cx="365760" cy="365760"/>
          </a:xfrm>
          <a:prstGeom prst="ellipse">
            <a:avLst/>
          </a:prstGeom>
          <a:solidFill>
            <a:schemeClr val="accent4"/>
          </a:solidFill>
          <a:ln w="12700">
            <a:solidFill>
              <a:schemeClr val="accent4"/>
            </a:solidFill>
            <a:prstDash val="solid"/>
          </a:ln>
        </p:spPr>
      </p:sp>
      <p:sp>
        <p:nvSpPr>
          <p:cNvPr id="5" name="Text 3"/>
          <p:cNvSpPr txBox="1"/>
          <p:nvPr/>
        </p:nvSpPr>
        <p:spPr>
          <a:xfrm>
            <a:off x="1143000" y="1371600"/>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Challenges</a:t>
            </a:r>
            <a:endParaRPr lang="en-US" sz="2000" dirty="0"/>
          </a:p>
        </p:txBody>
      </p:sp>
      <p:sp>
        <p:nvSpPr>
          <p:cNvPr id="6" name="Text 4"/>
          <p:cNvSpPr txBox="1"/>
          <p:nvPr/>
        </p:nvSpPr>
        <p:spPr>
          <a:xfrm>
            <a:off x="640080" y="1965960"/>
            <a:ext cx="2331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Card layout inferred, not documented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DOM order is not rank order</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Inconsistent condition labels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Fewer ads on some days</a:t>
            </a:r>
            <a:endParaRPr lang="en-US" sz="1400" dirty="0"/>
          </a:p>
        </p:txBody>
      </p:sp>
      <p:sp>
        <p:nvSpPr>
          <p:cNvPr id="7" name="Column card Limitations"/>
          <p:cNvSpPr/>
          <p:nvPr/>
        </p:nvSpPr>
        <p:spPr>
          <a:xfrm>
            <a:off x="3246120" y="1188720"/>
            <a:ext cx="2651760" cy="320040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Column dot Limitations"/>
          <p:cNvSpPr/>
          <p:nvPr/>
        </p:nvSpPr>
        <p:spPr>
          <a:xfrm>
            <a:off x="3429000" y="1371600"/>
            <a:ext cx="365760" cy="365760"/>
          </a:xfrm>
          <a:prstGeom prst="ellipse">
            <a:avLst/>
          </a:prstGeom>
          <a:solidFill>
            <a:schemeClr val="accent2"/>
          </a:solidFill>
          <a:ln w="12700">
            <a:solidFill>
              <a:schemeClr val="accent2"/>
            </a:solidFill>
            <a:prstDash val="solid"/>
          </a:ln>
        </p:spPr>
      </p:sp>
      <p:sp>
        <p:nvSpPr>
          <p:cNvPr id="9" name="Text 7"/>
          <p:cNvSpPr txBox="1"/>
          <p:nvPr/>
        </p:nvSpPr>
        <p:spPr>
          <a:xfrm>
            <a:off x="3931920" y="1371600"/>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Limitations</a:t>
            </a:r>
            <a:endParaRPr lang="en-US" sz="2000" dirty="0"/>
          </a:p>
        </p:txBody>
      </p:sp>
      <p:sp>
        <p:nvSpPr>
          <p:cNvPr id="10" name="Text 8"/>
          <p:cNvSpPr txBox="1"/>
          <p:nvPr/>
        </p:nvSpPr>
        <p:spPr>
          <a:xfrm>
            <a:off x="3429000" y="1965960"/>
            <a:ext cx="2331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Advertised price is not the sold price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No ratings or review counts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Posting dates mostly unavailable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Only one week of data</a:t>
            </a:r>
            <a:endParaRPr lang="en-US" sz="1400" dirty="0"/>
          </a:p>
        </p:txBody>
      </p:sp>
      <p:sp>
        <p:nvSpPr>
          <p:cNvPr id="11" name="Column card Lessons"/>
          <p:cNvSpPr/>
          <p:nvPr/>
        </p:nvSpPr>
        <p:spPr>
          <a:xfrm>
            <a:off x="6035040" y="1188720"/>
            <a:ext cx="2651760" cy="320040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Column dot Lessons"/>
          <p:cNvSpPr/>
          <p:nvPr/>
        </p:nvSpPr>
        <p:spPr>
          <a:xfrm>
            <a:off x="6217920" y="1371600"/>
            <a:ext cx="365760" cy="365760"/>
          </a:xfrm>
          <a:prstGeom prst="ellipse">
            <a:avLst/>
          </a:prstGeom>
          <a:solidFill>
            <a:schemeClr val="accent3"/>
          </a:solidFill>
          <a:ln w="12700">
            <a:solidFill>
              <a:schemeClr val="accent3"/>
            </a:solidFill>
            <a:prstDash val="solid"/>
          </a:ln>
        </p:spPr>
      </p:sp>
      <p:sp>
        <p:nvSpPr>
          <p:cNvPr id="13" name="Text 11"/>
          <p:cNvSpPr txBox="1"/>
          <p:nvPr/>
        </p:nvSpPr>
        <p:spPr>
          <a:xfrm>
            <a:off x="6720840" y="1371600"/>
            <a:ext cx="1828800" cy="3657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Lessons</a:t>
            </a:r>
            <a:endParaRPr lang="en-US" sz="2000" dirty="0"/>
          </a:p>
        </p:txBody>
      </p:sp>
      <p:sp>
        <p:nvSpPr>
          <p:cNvPr id="14" name="Text 12"/>
          <p:cNvSpPr txBox="1"/>
          <p:nvPr/>
        </p:nvSpPr>
        <p:spPr>
          <a:xfrm>
            <a:off x="6217920" y="1965960"/>
            <a:ext cx="2331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Do reconnaissance first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Keep raw data untouched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Log everything</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Build ethics into the code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Conclusion &amp; future scope</a:t>
            </a:r>
            <a:endParaRPr lang="en-US" sz="3200" dirty="0"/>
          </a:p>
        </p:txBody>
      </p:sp>
      <p:sp>
        <p:nvSpPr>
          <p:cNvPr id="3" name="Text 1"/>
          <p:cNvSpPr txBox="1"/>
          <p:nvPr/>
        </p:nvSpPr>
        <p:spPr>
          <a:xfrm>
            <a:off x="457200" y="1234440"/>
            <a:ext cx="3840480" cy="365760"/>
          </a:xfrm>
          <a:prstGeom prst="rect">
            <a:avLst/>
          </a:prstGeom>
          <a:noFill/>
          <a:ln/>
        </p:spPr>
        <p:txBody>
          <a:bodyPr wrap="square" lIns="0" tIns="0" rIns="0" bIns="0" rtlCol="0" anchor="t"/>
          <a:lstStyle/>
          <a:p>
            <a:pPr indent="0" marL="0">
              <a:buNone/>
            </a:pPr>
            <a:r>
              <a:rPr lang="en-US" sz="2000" b="1" dirty="0">
                <a:solidFill>
                  <a:schemeClr val="accent2"/>
                </a:solidFill>
                <a:latin typeface="Calibri" pitchFamily="34" charset="0"/>
                <a:ea typeface="Calibri" pitchFamily="34" charset="-122"/>
                <a:cs typeface="Calibri" pitchFamily="34" charset="-120"/>
              </a:rPr>
              <a:t>Key takeaways</a:t>
            </a:r>
            <a:endParaRPr lang="en-US" sz="2000" dirty="0"/>
          </a:p>
        </p:txBody>
      </p:sp>
      <p:sp>
        <p:nvSpPr>
          <p:cNvPr id="4" name="Text 2"/>
          <p:cNvSpPr txBox="1"/>
          <p:nvPr/>
        </p:nvSpPr>
        <p:spPr>
          <a:xfrm>
            <a:off x="457200" y="1691640"/>
            <a:ext cx="384048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Polite, modular, reproducible scraper</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3,482 listings, zero blocks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Raw, cleaned and relational layers kept separate</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Ethics built into the code</a:t>
            </a:r>
            <a:endParaRPr lang="en-US" sz="1500" dirty="0"/>
          </a:p>
        </p:txBody>
      </p:sp>
      <p:sp>
        <p:nvSpPr>
          <p:cNvPr id="5" name="Future scope card"/>
          <p:cNvSpPr/>
          <p:nvPr/>
        </p:nvSpPr>
        <p:spPr>
          <a:xfrm>
            <a:off x="4663440" y="1188720"/>
            <a:ext cx="4023360" cy="2697480"/>
          </a:xfrm>
          <a:prstGeom prst="roundRect">
            <a:avLst>
              <a:gd name="adj" fmla="val 2712"/>
            </a:avLst>
          </a:prstGeom>
          <a:solidFill>
            <a:srgbClr val="12505E"/>
          </a:solidFill>
          <a:ln w="12700">
            <a:solidFill>
              <a:srgbClr val="12505E"/>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4892040" y="1325880"/>
            <a:ext cx="3657600" cy="365760"/>
          </a:xfrm>
          <a:prstGeom prst="rect">
            <a:avLst/>
          </a:prstGeom>
          <a:noFill/>
          <a:ln/>
        </p:spPr>
        <p:txBody>
          <a:bodyPr wrap="square" lIns="0" tIns="0" rIns="0" bIns="0" rtlCol="0" anchor="t"/>
          <a:lstStyle/>
          <a:p>
            <a:pPr indent="0" marL="0">
              <a:buNone/>
            </a:pPr>
            <a:r>
              <a:rPr lang="en-US" sz="2000" b="1" dirty="0">
                <a:solidFill>
                  <a:schemeClr val="accent2"/>
                </a:solidFill>
                <a:latin typeface="Calibri" pitchFamily="34" charset="0"/>
                <a:ea typeface="Calibri" pitchFamily="34" charset="-122"/>
                <a:cs typeface="Calibri" pitchFamily="34" charset="-120"/>
              </a:rPr>
              <a:t>Future scope</a:t>
            </a:r>
            <a:endParaRPr lang="en-US" sz="2000" dirty="0"/>
          </a:p>
        </p:txBody>
      </p:sp>
      <p:sp>
        <p:nvSpPr>
          <p:cNvPr id="7" name="Text 5"/>
          <p:cNvSpPr txBox="1"/>
          <p:nvPr/>
        </p:nvSpPr>
        <p:spPr>
          <a:xfrm>
            <a:off x="4892040" y="1783080"/>
            <a:ext cx="36118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Scheduled daily runs with alerts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Cohort tracking of price drops and removals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Playwright for JavaScript-heavy sites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Uganda vs Kenya price comparison</a:t>
            </a:r>
            <a:endParaRPr lang="en-US" sz="1500" dirty="0"/>
          </a:p>
        </p:txBody>
      </p:sp>
      <p:sp>
        <p:nvSpPr>
          <p:cNvPr id="8" name="Text 6"/>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Thank you. Questions?</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7A9"/>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Group5 Scraping">
  <a:themeElements>
    <a:clrScheme name="Group5 Scraping">
      <a:dk1>
        <a:srgbClr val="1B2A2F"/>
      </a:dk1>
      <a:lt1>
        <a:srgbClr val="FFFFFF"/>
      </a:lt1>
      <a:dk2>
        <a:srgbClr val="0B3C49"/>
      </a:dk2>
      <a:lt2>
        <a:srgbClr val="EAF2F2"/>
      </a:lt2>
      <a:accent1>
        <a:srgbClr val="0E7C86"/>
      </a:accent1>
      <a:accent2>
        <a:srgbClr val="F2A33A"/>
      </a:accent2>
      <a:accent3>
        <a:srgbClr val="3F8F6B"/>
      </a:accent3>
      <a:accent4>
        <a:srgbClr val="C8553D"/>
      </a:accent4>
      <a:accent5>
        <a:srgbClr val="5B7C99"/>
      </a:accent5>
      <a:accent6>
        <a:srgbClr val="8AA7A9"/>
      </a:accent6>
      <a:hlink>
        <a:srgbClr val="0E7C86"/>
      </a:hlink>
      <a:folHlink>
        <a:srgbClr val="5B7C99"/>
      </a:folHlink>
    </a:clrScheme>
    <a:fontScheme name="Group5 Scrap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Scraping: Techniques, Applications, and a Jiji Uganda Case Study</dc:title>
  <dc:subject>PptxGenJS Presentation</dc:subject>
  <dc:creator>DSC2107 Group 5</dc:creator>
  <cp:lastModifiedBy>DSC2107 Group 5</cp:lastModifiedBy>
  <cp:revision>1</cp:revision>
  <dcterms:created xsi:type="dcterms:W3CDTF">2026-10-19T19:48:46Z</dcterms:created>
  <dcterms:modified xsi:type="dcterms:W3CDTF">2026-10-19T19:48:46Z</dcterms:modified>
</cp:coreProperties>
</file>